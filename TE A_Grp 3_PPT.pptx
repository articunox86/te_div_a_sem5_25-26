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sldIdLst>
    <p:sldId id="257" r:id="rId3"/>
    <p:sldId id="264" r:id="rId4"/>
    <p:sldId id="258" r:id="rId5"/>
    <p:sldId id="259" r:id="rId6"/>
    <p:sldId id="263" r:id="rId7"/>
    <p:sldId id="273" r:id="rId8"/>
    <p:sldId id="274" r:id="rId9"/>
    <p:sldId id="275" r:id="rId10"/>
    <p:sldId id="276" r:id="rId11"/>
    <p:sldId id="280" r:id="rId12"/>
    <p:sldId id="261" r:id="rId13"/>
    <p:sldId id="281" r:id="rId14"/>
    <p:sldId id="277" r:id="rId15"/>
    <p:sldId id="278" r:id="rId16"/>
    <p:sldId id="279" r:id="rId17"/>
    <p:sldId id="282" r:id="rId18"/>
    <p:sldId id="283" r:id="rId19"/>
    <p:sldId id="26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07" autoAdjust="0"/>
    <p:restoredTop sz="94660"/>
  </p:normalViewPr>
  <p:slideViewPr>
    <p:cSldViewPr snapToGrid="0">
      <p:cViewPr varScale="1">
        <p:scale>
          <a:sx n="111" d="100"/>
          <a:sy n="111" d="100"/>
        </p:scale>
        <p:origin x="36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1A4F5-B9E5-44F7-83F8-F093209D90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205C452-C2FF-4E97-9371-DB09FF1C58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049D1E-E8F1-46EB-9EF0-68F593568DB4}"/>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5" name="Footer Placeholder 4">
            <a:extLst>
              <a:ext uri="{FF2B5EF4-FFF2-40B4-BE49-F238E27FC236}">
                <a16:creationId xmlns:a16="http://schemas.microsoft.com/office/drawing/2014/main" id="{133F74F6-7563-46AA-91D5-FC0DF50EFF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480687-189A-4715-9085-F1A0E345D31F}"/>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22970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E6BEC-030A-4E6D-9969-92EE75E512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A6195B-A102-441D-AB65-54906485830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8AC6F-26F4-4751-A032-A4B379981E0B}"/>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5" name="Footer Placeholder 4">
            <a:extLst>
              <a:ext uri="{FF2B5EF4-FFF2-40B4-BE49-F238E27FC236}">
                <a16:creationId xmlns:a16="http://schemas.microsoft.com/office/drawing/2014/main" id="{FDE46025-2537-4556-A76A-2BAB1450B5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2206D1-BD2D-44D5-8059-780C40F1AE37}"/>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2757297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5A34-8783-4D4C-BB3E-77884101F6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F94A547-CC48-4861-9FBC-3CE0C99F1B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7DE8568-3879-48D6-8C00-EEDEA451AFEE}"/>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5" name="Footer Placeholder 4">
            <a:extLst>
              <a:ext uri="{FF2B5EF4-FFF2-40B4-BE49-F238E27FC236}">
                <a16:creationId xmlns:a16="http://schemas.microsoft.com/office/drawing/2014/main" id="{6B032B22-67E7-4998-B79E-C6955AAE66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E5FF4C-342F-46D7-811D-72F9969B7129}"/>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1028992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9E841-E5B4-43DD-86D7-3204C68409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0C0581-72C5-4C86-9114-96483F83063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080655-4B08-477E-849C-11C8DE87371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5DF952-35EE-41D4-B3AF-038D59CB426E}"/>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6" name="Footer Placeholder 5">
            <a:extLst>
              <a:ext uri="{FF2B5EF4-FFF2-40B4-BE49-F238E27FC236}">
                <a16:creationId xmlns:a16="http://schemas.microsoft.com/office/drawing/2014/main" id="{DADEB505-5818-4156-A303-A88A5CBBED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0E5833-A747-47A0-B3ED-6C83ACDC63E6}"/>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1833957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F360E-67B2-45B8-8E75-02239C1864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12A64C-4B0C-4E1F-A884-8D59AC57E4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79FECC5-7095-4F96-8C95-BD90EC661E6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3249CCA-44F9-4E1E-8ECD-88AD6A83B0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96564B4-E97F-4CBC-A9C8-11AE4624F0A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80ED60C-B6A8-40E4-A53C-B9E09CB1DC83}"/>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8" name="Footer Placeholder 7">
            <a:extLst>
              <a:ext uri="{FF2B5EF4-FFF2-40B4-BE49-F238E27FC236}">
                <a16:creationId xmlns:a16="http://schemas.microsoft.com/office/drawing/2014/main" id="{3459983C-2723-430D-9F3A-72DDF4177B6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7F53EEF-FD56-4F9A-8C7A-7CC15D6D5DFF}"/>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2675103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5D9CA-93EA-4384-AA88-2E0F70E618E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2EDB73-CADB-4302-A8E9-2DC8BC85BBB9}"/>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4" name="Footer Placeholder 3">
            <a:extLst>
              <a:ext uri="{FF2B5EF4-FFF2-40B4-BE49-F238E27FC236}">
                <a16:creationId xmlns:a16="http://schemas.microsoft.com/office/drawing/2014/main" id="{017C5495-49B0-4DDF-8367-4289473485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ACBD5F-0C63-4589-8C13-F1D446448F0E}"/>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1054066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1A8D0A-C4FC-45AB-9DC7-4FE061548D99}"/>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3" name="Footer Placeholder 2">
            <a:extLst>
              <a:ext uri="{FF2B5EF4-FFF2-40B4-BE49-F238E27FC236}">
                <a16:creationId xmlns:a16="http://schemas.microsoft.com/office/drawing/2014/main" id="{A5D48770-AC88-4351-BD0A-FD85FC2E800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D0672D7-3202-4ED1-A0DF-8FD10EF47E5E}"/>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283337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1FA6-CFFC-491D-A0BB-478FCFFEEB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0ADAC0-408B-48E8-86D5-E4067C4DD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6D32173-59B4-47E0-825F-5E204E517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467700-7826-4591-AA61-BCE013139FCA}"/>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6" name="Footer Placeholder 5">
            <a:extLst>
              <a:ext uri="{FF2B5EF4-FFF2-40B4-BE49-F238E27FC236}">
                <a16:creationId xmlns:a16="http://schemas.microsoft.com/office/drawing/2014/main" id="{BC56418C-F0E9-493B-BB3C-12FC2CE623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50DD37-2BF5-43BE-8959-B46C14ECFB38}"/>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3860274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A147-9C25-4DBB-A014-76786D274D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3A5716-C6F3-430B-9458-D63B75316C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1D33E5-D2B1-44A0-8CA9-0534A8A9E2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7D35238-FAFB-480A-8261-E991E55138A2}"/>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6" name="Footer Placeholder 5">
            <a:extLst>
              <a:ext uri="{FF2B5EF4-FFF2-40B4-BE49-F238E27FC236}">
                <a16:creationId xmlns:a16="http://schemas.microsoft.com/office/drawing/2014/main" id="{86EE52CA-477D-4A0A-8C9D-6CCB377B27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6D5AFC-5842-41A7-8485-70AFB0F5E513}"/>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2047702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6264-E29F-4375-AEF5-F6A8F679C48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A568E9-F996-4C1E-AE88-834021DEE39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08CBDF-D041-4E60-B251-040ECF4184C2}"/>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5" name="Footer Placeholder 4">
            <a:extLst>
              <a:ext uri="{FF2B5EF4-FFF2-40B4-BE49-F238E27FC236}">
                <a16:creationId xmlns:a16="http://schemas.microsoft.com/office/drawing/2014/main" id="{B7C9EEC6-4CCE-463B-B90F-B04990387F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9D0994-D2E1-45B4-869F-EE4C659525C1}"/>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88284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F548DB-F64D-4DAD-A0C8-D303251E66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C417CA-4C66-41B5-AC33-3BAA3BF53F1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8A2B2A-EB82-4284-96AE-09A4477E2952}"/>
              </a:ext>
            </a:extLst>
          </p:cNvPr>
          <p:cNvSpPr>
            <a:spLocks noGrp="1"/>
          </p:cNvSpPr>
          <p:nvPr>
            <p:ph type="dt" sz="half" idx="10"/>
          </p:nvPr>
        </p:nvSpPr>
        <p:spPr/>
        <p:txBody>
          <a:bodyPr/>
          <a:lstStyle/>
          <a:p>
            <a:fld id="{8BEDB7D2-4BE7-404A-9A81-2617C8CA2523}" type="datetimeFigureOut">
              <a:rPr lang="en-IN" smtClean="0"/>
              <a:t>31-10-2025</a:t>
            </a:fld>
            <a:endParaRPr lang="en-IN"/>
          </a:p>
        </p:txBody>
      </p:sp>
      <p:sp>
        <p:nvSpPr>
          <p:cNvPr id="5" name="Footer Placeholder 4">
            <a:extLst>
              <a:ext uri="{FF2B5EF4-FFF2-40B4-BE49-F238E27FC236}">
                <a16:creationId xmlns:a16="http://schemas.microsoft.com/office/drawing/2014/main" id="{0B540C5F-1176-4886-8939-41FA794300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780B43-414A-4992-BE10-94EB7B6C00D4}"/>
              </a:ext>
            </a:extLst>
          </p:cNvPr>
          <p:cNvSpPr>
            <a:spLocks noGrp="1"/>
          </p:cNvSpPr>
          <p:nvPr>
            <p:ph type="sldNum" sz="quarter" idx="12"/>
          </p:nvPr>
        </p:nvSpPr>
        <p:spPr/>
        <p:txBody>
          <a:bodyPr/>
          <a:lstStyle/>
          <a:p>
            <a:fld id="{9AFFBA1A-2134-485F-8D4E-D7ED40A61703}" type="slidenum">
              <a:rPr lang="en-IN" smtClean="0"/>
              <a:t>‹#›</a:t>
            </a:fld>
            <a:endParaRPr lang="en-IN"/>
          </a:p>
        </p:txBody>
      </p:sp>
    </p:spTree>
    <p:extLst>
      <p:ext uri="{BB962C8B-B14F-4D97-AF65-F5344CB8AC3E}">
        <p14:creationId xmlns:p14="http://schemas.microsoft.com/office/powerpoint/2010/main" val="3290030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C8861-267B-454F-B55B-F15FBD50DE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B65B04-D853-4438-934F-70DEF0C328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19415C9-2DF8-4DB5-AAA0-D6D86BFDFC01}"/>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5" name="Footer Placeholder 4">
            <a:extLst>
              <a:ext uri="{FF2B5EF4-FFF2-40B4-BE49-F238E27FC236}">
                <a16:creationId xmlns:a16="http://schemas.microsoft.com/office/drawing/2014/main" id="{7803A0C7-334E-45B4-BD7C-42416459D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5C2BE7-AD33-4895-94E8-AABAA95C0A7D}"/>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948462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AA467-FBAF-4FB4-A52D-0D5A20576A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544132-CDAE-44B9-890E-605D512F1D3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DFD623-A2D1-4D43-86EF-2D6A650A736B}"/>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5" name="Footer Placeholder 4">
            <a:extLst>
              <a:ext uri="{FF2B5EF4-FFF2-40B4-BE49-F238E27FC236}">
                <a16:creationId xmlns:a16="http://schemas.microsoft.com/office/drawing/2014/main" id="{D19A456C-2BCD-4330-B8BD-A172349047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28EDBE-7E50-49E1-AFE0-69F8C432C85D}"/>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3475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E0F2C-C556-415D-A216-BEA0E094EE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CB855C-4D6C-4FEF-93AA-BF4D8E6EE4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764FAE8-BE03-42C9-B8CE-6661BE755614}"/>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5" name="Footer Placeholder 4">
            <a:extLst>
              <a:ext uri="{FF2B5EF4-FFF2-40B4-BE49-F238E27FC236}">
                <a16:creationId xmlns:a16="http://schemas.microsoft.com/office/drawing/2014/main" id="{2F3F4789-A98C-4580-97DB-E9A5A3171B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43BA-A667-4C0A-90F1-7F697CAE7298}"/>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03584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8096F-F5DA-49BB-99F9-460B1D8798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155368-689A-47B8-8665-376AA3C2968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3DFF81-C4E3-4E9F-A935-7D8D5BC5284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470E4A-1159-442E-81BA-55B195DF0415}"/>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6" name="Footer Placeholder 5">
            <a:extLst>
              <a:ext uri="{FF2B5EF4-FFF2-40B4-BE49-F238E27FC236}">
                <a16:creationId xmlns:a16="http://schemas.microsoft.com/office/drawing/2014/main" id="{4FDB9730-FD4F-4506-9D25-89CF838148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522CDF-7EE3-4F4D-8A3B-4B3D31E9B984}"/>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12360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43A7A-BA0E-42AD-A892-BDDD668525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AA353D-2246-44C6-9D55-60B9E3FB94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0C613F2-0CA2-49C1-8314-1C88AD4D5BA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D7B004-62B3-4A1A-96EC-32B9155F67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2D6BD26-BAB4-4D86-B58D-433F856C784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28D98B1-F880-49B5-9194-581D7854B14D}"/>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8" name="Footer Placeholder 7">
            <a:extLst>
              <a:ext uri="{FF2B5EF4-FFF2-40B4-BE49-F238E27FC236}">
                <a16:creationId xmlns:a16="http://schemas.microsoft.com/office/drawing/2014/main" id="{98132BD6-4DF2-427B-9D16-D52DBC7231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604A6B-E3FE-4830-AE8D-CB16D23045CD}"/>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803973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F3800-4727-4059-B2F5-D3BD82DDF82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A85550-DB47-4D53-B291-DEB2E24C694C}"/>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4" name="Footer Placeholder 3">
            <a:extLst>
              <a:ext uri="{FF2B5EF4-FFF2-40B4-BE49-F238E27FC236}">
                <a16:creationId xmlns:a16="http://schemas.microsoft.com/office/drawing/2014/main" id="{49ABBA4C-BF66-4145-8C95-4FBFB28EA7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9B0061-40E5-40DA-8CAD-56D7CDF6D565}"/>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940961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D1C212-CC7F-40B6-8A0D-FFCD46B0C195}"/>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3" name="Footer Placeholder 2">
            <a:extLst>
              <a:ext uri="{FF2B5EF4-FFF2-40B4-BE49-F238E27FC236}">
                <a16:creationId xmlns:a16="http://schemas.microsoft.com/office/drawing/2014/main" id="{B97B5E33-3D84-42A3-92FE-B55F5467DD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26F742-43CA-4F40-84F6-837824C5BAF9}"/>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766615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45272-E2D7-4060-AEC3-3858BA230E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9F7D47-D27C-4AF5-A110-08EE396489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023D4B-57ED-46B2-B573-4EA9935DA1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9221CE3-12BE-4B50-956D-1E42E05130B1}"/>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6" name="Footer Placeholder 5">
            <a:extLst>
              <a:ext uri="{FF2B5EF4-FFF2-40B4-BE49-F238E27FC236}">
                <a16:creationId xmlns:a16="http://schemas.microsoft.com/office/drawing/2014/main" id="{54E77CBF-32B8-40B2-8591-EB2BFA87A4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331EAE-EEFC-44E5-AF0E-240ABD14F480}"/>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0056993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04D5A-0659-44E9-BE96-480DA08CC6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7313A8D-D7E7-4B2D-8D05-EFEE6989E9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623B8F-B645-4794-94F3-C13A08ECBA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58E9985-0AD6-4002-9182-8768F800DA73}"/>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6" name="Footer Placeholder 5">
            <a:extLst>
              <a:ext uri="{FF2B5EF4-FFF2-40B4-BE49-F238E27FC236}">
                <a16:creationId xmlns:a16="http://schemas.microsoft.com/office/drawing/2014/main" id="{35754357-3CBC-4BE0-88D7-9419B398A7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53EDDB-5E36-47EF-B018-5860B82665A9}"/>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535226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CA27F-600E-493C-9332-4C71A97D724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1E16CB-12E7-4E39-9422-6308F3746AC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705F7B-3805-4FD1-9727-4D372850C93B}"/>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5" name="Footer Placeholder 4">
            <a:extLst>
              <a:ext uri="{FF2B5EF4-FFF2-40B4-BE49-F238E27FC236}">
                <a16:creationId xmlns:a16="http://schemas.microsoft.com/office/drawing/2014/main" id="{51331D2A-FC45-4712-9CA0-628179EBED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09F43-53B0-4D34-919D-65402A0B27CD}"/>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386501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495683-DA70-4C0F-A82D-BD21855A60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A8A46A-DA4F-43A0-968C-A45CB56B8EB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D8A33F-A1CA-4B22-ACA7-B63BF09EA678}"/>
              </a:ext>
            </a:extLst>
          </p:cNvPr>
          <p:cNvSpPr>
            <a:spLocks noGrp="1"/>
          </p:cNvSpPr>
          <p:nvPr>
            <p:ph type="dt" sz="half" idx="10"/>
          </p:nvPr>
        </p:nvSpPr>
        <p:spPr/>
        <p:txBody>
          <a:bodyPr/>
          <a:lstStyle/>
          <a:p>
            <a:fld id="{846CE7D5-CF57-46EF-B807-FDD0502418D4}" type="datetimeFigureOut">
              <a:rPr lang="en-US" smtClean="0"/>
              <a:t>10/31/2025</a:t>
            </a:fld>
            <a:endParaRPr lang="en-US"/>
          </a:p>
        </p:txBody>
      </p:sp>
      <p:sp>
        <p:nvSpPr>
          <p:cNvPr id="5" name="Footer Placeholder 4">
            <a:extLst>
              <a:ext uri="{FF2B5EF4-FFF2-40B4-BE49-F238E27FC236}">
                <a16:creationId xmlns:a16="http://schemas.microsoft.com/office/drawing/2014/main" id="{75043026-29BE-46F5-AED6-616A24E5F0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682663-5A87-4B57-98C7-7FE4EDBAD4E3}"/>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550459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032E98-B870-47C8-B382-006DA78911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E2F424-72F9-49F8-BB1E-58B9C1EE52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E42FE6-7449-4460-85A5-2A061024AD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DB7D2-4BE7-404A-9A81-2617C8CA2523}" type="datetimeFigureOut">
              <a:rPr lang="en-IN" smtClean="0"/>
              <a:t>31-10-2025</a:t>
            </a:fld>
            <a:endParaRPr lang="en-IN"/>
          </a:p>
        </p:txBody>
      </p:sp>
      <p:sp>
        <p:nvSpPr>
          <p:cNvPr id="5" name="Footer Placeholder 4">
            <a:extLst>
              <a:ext uri="{FF2B5EF4-FFF2-40B4-BE49-F238E27FC236}">
                <a16:creationId xmlns:a16="http://schemas.microsoft.com/office/drawing/2014/main" id="{D704D129-E6A1-4E47-81F1-CFF2C2A783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631D4AF-E637-409D-A739-9F473CB47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FFBA1A-2134-485F-8D4E-D7ED40A61703}" type="slidenum">
              <a:rPr lang="en-IN" smtClean="0"/>
              <a:t>‹#›</a:t>
            </a:fld>
            <a:endParaRPr lang="en-IN"/>
          </a:p>
        </p:txBody>
      </p:sp>
    </p:spTree>
    <p:extLst>
      <p:ext uri="{BB962C8B-B14F-4D97-AF65-F5344CB8AC3E}">
        <p14:creationId xmlns:p14="http://schemas.microsoft.com/office/powerpoint/2010/main" val="839164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93FB42-CD55-43A5-93B0-D154DA08F3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77E1D2-0A28-4B8B-A668-6CD3FFFD37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EC82A5-8CA9-4BE4-ABE8-D20DF42E6F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10/31/2025</a:t>
            </a:fld>
            <a:endParaRPr lang="en-US"/>
          </a:p>
        </p:txBody>
      </p:sp>
      <p:sp>
        <p:nvSpPr>
          <p:cNvPr id="5" name="Footer Placeholder 4">
            <a:extLst>
              <a:ext uri="{FF2B5EF4-FFF2-40B4-BE49-F238E27FC236}">
                <a16:creationId xmlns:a16="http://schemas.microsoft.com/office/drawing/2014/main" id="{4ED4720B-73B5-4623-B588-8ED2E60343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6589EC6-5595-4A89-9FAD-856D0D36B5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664127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up of a white background&#10;&#10;Description automatically generated">
            <a:extLst>
              <a:ext uri="{FF2B5EF4-FFF2-40B4-BE49-F238E27FC236}">
                <a16:creationId xmlns:a16="http://schemas.microsoft.com/office/drawing/2014/main" id="{0BFA9322-5FDE-EE9D-161B-1031B4C04231}"/>
              </a:ext>
            </a:extLst>
          </p:cNvPr>
          <p:cNvPicPr>
            <a:picLocks noChangeAspect="1"/>
          </p:cNvPicPr>
          <p:nvPr/>
        </p:nvPicPr>
        <p:blipFill>
          <a:blip r:embed="rId2"/>
          <a:stretch>
            <a:fillRect/>
          </a:stretch>
        </p:blipFill>
        <p:spPr>
          <a:xfrm>
            <a:off x="2516093" y="-2488"/>
            <a:ext cx="7159815" cy="1629368"/>
          </a:xfrm>
          <a:prstGeom prst="rect">
            <a:avLst/>
          </a:prstGeom>
        </p:spPr>
      </p:pic>
      <p:sp>
        <p:nvSpPr>
          <p:cNvPr id="5" name="TextBox 4">
            <a:extLst>
              <a:ext uri="{FF2B5EF4-FFF2-40B4-BE49-F238E27FC236}">
                <a16:creationId xmlns:a16="http://schemas.microsoft.com/office/drawing/2014/main" id="{A0C794E1-067C-91DC-3AA1-A1C5ABEF60EA}"/>
              </a:ext>
            </a:extLst>
          </p:cNvPr>
          <p:cNvSpPr txBox="1"/>
          <p:nvPr/>
        </p:nvSpPr>
        <p:spPr>
          <a:xfrm>
            <a:off x="1188604" y="1779409"/>
            <a:ext cx="981479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4000" b="1" dirty="0">
                <a:latin typeface="Times New Roman" panose="02020603050405020304" pitchFamily="18" charset="0"/>
                <a:cs typeface="Times New Roman" panose="02020603050405020304" pitchFamily="18" charset="0"/>
              </a:rPr>
              <a:t>F1 Race Orientation using ML</a:t>
            </a:r>
            <a:endParaRPr lang="en-IN" sz="40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BBADDBF-A5E1-1A95-ADFD-6FF2D7D1CA85}"/>
              </a:ext>
            </a:extLst>
          </p:cNvPr>
          <p:cNvGraphicFramePr>
            <a:graphicFrameLocks noGrp="1"/>
          </p:cNvGraphicFramePr>
          <p:nvPr>
            <p:extLst>
              <p:ext uri="{D42A27DB-BD31-4B8C-83A1-F6EECF244321}">
                <p14:modId xmlns:p14="http://schemas.microsoft.com/office/powerpoint/2010/main" val="3072080924"/>
              </p:ext>
            </p:extLst>
          </p:nvPr>
        </p:nvGraphicFramePr>
        <p:xfrm>
          <a:off x="2992046" y="3684455"/>
          <a:ext cx="6207908" cy="1459275"/>
        </p:xfrm>
        <a:graphic>
          <a:graphicData uri="http://schemas.openxmlformats.org/drawingml/2006/table">
            <a:tbl>
              <a:tblPr firstRow="1" bandRow="1">
                <a:tableStyleId>{5940675A-B579-460E-94D1-54222C63F5DA}</a:tableStyleId>
              </a:tblPr>
              <a:tblGrid>
                <a:gridCol w="3103954">
                  <a:extLst>
                    <a:ext uri="{9D8B030D-6E8A-4147-A177-3AD203B41FA5}">
                      <a16:colId xmlns:a16="http://schemas.microsoft.com/office/drawing/2014/main" val="2168846367"/>
                    </a:ext>
                  </a:extLst>
                </a:gridCol>
                <a:gridCol w="3103954">
                  <a:extLst>
                    <a:ext uri="{9D8B030D-6E8A-4147-A177-3AD203B41FA5}">
                      <a16:colId xmlns:a16="http://schemas.microsoft.com/office/drawing/2014/main" val="2578618339"/>
                    </a:ext>
                  </a:extLst>
                </a:gridCol>
              </a:tblGrid>
              <a:tr h="486425">
                <a:tc>
                  <a:txBody>
                    <a:bodyPr/>
                    <a:lstStyle/>
                    <a:p>
                      <a:pPr algn="ctr"/>
                      <a:r>
                        <a:rPr lang="en-US" sz="2000" dirty="0">
                          <a:solidFill>
                            <a:schemeClr val="tx1"/>
                          </a:solidFill>
                          <a:latin typeface="Times New Roman"/>
                        </a:rPr>
                        <a:t>Prathamesh More</a:t>
                      </a:r>
                    </a:p>
                  </a:txBody>
                  <a:tcPr anchor="ctr">
                    <a:lnL w="0">
                      <a:noFill/>
                    </a:lnL>
                    <a:lnR w="0">
                      <a:noFill/>
                    </a:lnR>
                    <a:lnT w="0">
                      <a:noFill/>
                    </a:lnT>
                    <a:lnB w="0">
                      <a:noFill/>
                    </a:lnB>
                  </a:tcPr>
                </a:tc>
                <a:tc>
                  <a:txBody>
                    <a:bodyPr/>
                    <a:lstStyle/>
                    <a:p>
                      <a:pPr algn="ctr"/>
                      <a:r>
                        <a:rPr lang="en-US" sz="2000" dirty="0">
                          <a:solidFill>
                            <a:schemeClr val="tx1"/>
                          </a:solidFill>
                          <a:latin typeface="Times New Roman"/>
                        </a:rPr>
                        <a:t>(23106065)</a:t>
                      </a:r>
                    </a:p>
                  </a:txBody>
                  <a:tcPr anchor="ctr">
                    <a:lnL w="0">
                      <a:noFill/>
                    </a:lnL>
                    <a:lnR w="0">
                      <a:noFill/>
                    </a:lnR>
                    <a:lnT w="0">
                      <a:noFill/>
                    </a:lnT>
                    <a:lnB w="0">
                      <a:noFill/>
                    </a:lnB>
                  </a:tcPr>
                </a:tc>
                <a:extLst>
                  <a:ext uri="{0D108BD9-81ED-4DB2-BD59-A6C34878D82A}">
                    <a16:rowId xmlns:a16="http://schemas.microsoft.com/office/drawing/2014/main" val="1852539082"/>
                  </a:ext>
                </a:extLst>
              </a:tr>
              <a:tr h="486425">
                <a:tc>
                  <a:txBody>
                    <a:bodyPr/>
                    <a:lstStyle/>
                    <a:p>
                      <a:pPr algn="ctr"/>
                      <a:r>
                        <a:rPr lang="en-US" sz="2000" dirty="0">
                          <a:solidFill>
                            <a:schemeClr val="tx1"/>
                          </a:solidFill>
                          <a:latin typeface="Times New Roman"/>
                        </a:rPr>
                        <a:t>Harsh Kalsekar</a:t>
                      </a:r>
                    </a:p>
                  </a:txBody>
                  <a:tcPr anchor="ctr">
                    <a:lnL w="0">
                      <a:noFill/>
                    </a:lnL>
                    <a:lnR w="0">
                      <a:noFill/>
                    </a:lnR>
                    <a:lnT w="0">
                      <a:noFill/>
                    </a:lnT>
                    <a:lnB w="0">
                      <a:noFill/>
                    </a:lnB>
                  </a:tcPr>
                </a:tc>
                <a:tc>
                  <a:txBody>
                    <a:bodyPr/>
                    <a:lstStyle/>
                    <a:p>
                      <a:pPr algn="ctr"/>
                      <a:r>
                        <a:rPr lang="en-US" sz="2000" dirty="0">
                          <a:solidFill>
                            <a:schemeClr val="tx1"/>
                          </a:solidFill>
                          <a:latin typeface="Times New Roman"/>
                        </a:rPr>
                        <a:t>(23106042)</a:t>
                      </a:r>
                    </a:p>
                  </a:txBody>
                  <a:tcPr anchor="ctr">
                    <a:lnL w="0">
                      <a:noFill/>
                    </a:lnL>
                    <a:lnR w="0">
                      <a:noFill/>
                    </a:lnR>
                    <a:lnT w="0">
                      <a:noFill/>
                    </a:lnT>
                    <a:lnB w="0">
                      <a:noFill/>
                    </a:lnB>
                  </a:tcPr>
                </a:tc>
                <a:extLst>
                  <a:ext uri="{0D108BD9-81ED-4DB2-BD59-A6C34878D82A}">
                    <a16:rowId xmlns:a16="http://schemas.microsoft.com/office/drawing/2014/main" val="726328611"/>
                  </a:ext>
                </a:extLst>
              </a:tr>
              <a:tr h="486425">
                <a:tc>
                  <a:txBody>
                    <a:bodyPr/>
                    <a:lstStyle/>
                    <a:p>
                      <a:pPr lvl="0" algn="ctr">
                        <a:buNone/>
                      </a:pPr>
                      <a:r>
                        <a:rPr lang="en-US" sz="2000" dirty="0">
                          <a:solidFill>
                            <a:schemeClr val="tx1"/>
                          </a:solidFill>
                          <a:latin typeface="Times New Roman"/>
                        </a:rPr>
                        <a:t>Mayuresh Keni</a:t>
                      </a:r>
                    </a:p>
                  </a:txBody>
                  <a:tcPr anchor="ctr">
                    <a:lnL w="0">
                      <a:noFill/>
                    </a:lnL>
                    <a:lnR w="0">
                      <a:noFill/>
                    </a:lnR>
                    <a:lnT w="0">
                      <a:noFill/>
                    </a:lnT>
                    <a:lnB w="0">
                      <a:noFill/>
                    </a:lnB>
                  </a:tcPr>
                </a:tc>
                <a:tc>
                  <a:txBody>
                    <a:bodyPr/>
                    <a:lstStyle/>
                    <a:p>
                      <a:pPr lvl="0" algn="ctr">
                        <a:buNone/>
                      </a:pPr>
                      <a:r>
                        <a:rPr lang="en-US" sz="2000" dirty="0">
                          <a:solidFill>
                            <a:schemeClr val="tx1"/>
                          </a:solidFill>
                          <a:latin typeface="Times New Roman"/>
                        </a:rPr>
                        <a:t>(23106038)</a:t>
                      </a:r>
                    </a:p>
                  </a:txBody>
                  <a:tcPr anchor="ctr">
                    <a:lnL w="0">
                      <a:noFill/>
                    </a:lnL>
                    <a:lnR w="0">
                      <a:noFill/>
                    </a:lnR>
                    <a:lnT w="0">
                      <a:noFill/>
                    </a:lnT>
                    <a:lnB w="0">
                      <a:noFill/>
                    </a:lnB>
                  </a:tcPr>
                </a:tc>
                <a:extLst>
                  <a:ext uri="{0D108BD9-81ED-4DB2-BD59-A6C34878D82A}">
                    <a16:rowId xmlns:a16="http://schemas.microsoft.com/office/drawing/2014/main" val="2734563188"/>
                  </a:ext>
                </a:extLst>
              </a:tr>
            </a:tbl>
          </a:graphicData>
        </a:graphic>
      </p:graphicFrame>
      <p:sp>
        <p:nvSpPr>
          <p:cNvPr id="7" name="TextBox 6">
            <a:extLst>
              <a:ext uri="{FF2B5EF4-FFF2-40B4-BE49-F238E27FC236}">
                <a16:creationId xmlns:a16="http://schemas.microsoft.com/office/drawing/2014/main" id="{B4B88A52-9C4B-8118-DD23-FEBA2051904B}"/>
              </a:ext>
            </a:extLst>
          </p:cNvPr>
          <p:cNvSpPr txBox="1"/>
          <p:nvPr/>
        </p:nvSpPr>
        <p:spPr>
          <a:xfrm>
            <a:off x="3468000" y="5700097"/>
            <a:ext cx="538227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Times New Roman" panose="02020603050405020304" pitchFamily="18" charset="0"/>
                <a:cs typeface="Times New Roman" panose="02020603050405020304" pitchFamily="18" charset="0"/>
              </a:rPr>
              <a:t>Under the guidance of</a:t>
            </a:r>
          </a:p>
          <a:p>
            <a:pPr algn="ctr"/>
            <a:r>
              <a:rPr lang="en-US" sz="2400" b="1" dirty="0">
                <a:latin typeface="Times New Roman" panose="02020603050405020304" pitchFamily="18" charset="0"/>
                <a:cs typeface="Times New Roman" panose="02020603050405020304" pitchFamily="18" charset="0"/>
              </a:rPr>
              <a:t>Prof. Shraddha Dalvi</a:t>
            </a:r>
          </a:p>
          <a:p>
            <a:pPr algn="ctr"/>
            <a:r>
              <a:rPr lang="en-US" sz="2000" dirty="0">
                <a:latin typeface="Times New Roman" panose="02020603050405020304" pitchFamily="18" charset="0"/>
                <a:cs typeface="Times New Roman" panose="02020603050405020304" pitchFamily="18" charset="0"/>
              </a:rPr>
              <a:t>Academic Year 2025-26</a:t>
            </a:r>
          </a:p>
        </p:txBody>
      </p:sp>
      <p:sp>
        <p:nvSpPr>
          <p:cNvPr id="2" name="TextBox 1">
            <a:extLst>
              <a:ext uri="{FF2B5EF4-FFF2-40B4-BE49-F238E27FC236}">
                <a16:creationId xmlns:a16="http://schemas.microsoft.com/office/drawing/2014/main" id="{69CB4876-F86A-4852-89EB-8350BA56EF25}"/>
              </a:ext>
            </a:extLst>
          </p:cNvPr>
          <p:cNvSpPr txBox="1"/>
          <p:nvPr/>
        </p:nvSpPr>
        <p:spPr>
          <a:xfrm>
            <a:off x="5260041" y="3193372"/>
            <a:ext cx="1671918"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A Mini Project by</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00F62-7871-8F1A-4E26-7EF04FFAA238}"/>
              </a:ext>
            </a:extLst>
          </p:cNvPr>
          <p:cNvSpPr>
            <a:spLocks noGrp="1"/>
          </p:cNvSpPr>
          <p:nvPr>
            <p:ph type="title"/>
          </p:nvPr>
        </p:nvSpPr>
        <p:spPr>
          <a:xfrm>
            <a:off x="838200" y="0"/>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Presentation Outline: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1A46D8-A4A5-6E02-2268-5B6D99CA8B6A}"/>
              </a:ext>
            </a:extLst>
          </p:cNvPr>
          <p:cNvSpPr>
            <a:spLocks noGrp="1"/>
          </p:cNvSpPr>
          <p:nvPr>
            <p:ph idx="1"/>
          </p:nvPr>
        </p:nvSpPr>
        <p:spPr>
          <a:xfrm>
            <a:off x="838200" y="1265784"/>
            <a:ext cx="5777753" cy="4817775"/>
          </a:xfrm>
        </p:spPr>
        <p:txBody>
          <a:bodyPr>
            <a:normAutofit/>
          </a:bodyPr>
          <a:lstStyle/>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Literature Survey</a:t>
            </a:r>
            <a:r>
              <a:rPr lang="en-IN" dirty="0">
                <a:latin typeface="Times New Roman" panose="02020603050405020304" pitchFamily="18" charset="0"/>
                <a:cs typeface="Times New Roman" panose="02020603050405020304" pitchFamily="18" charset="0"/>
              </a:rPr>
              <a:t> of existing system</a:t>
            </a:r>
            <a:r>
              <a:rPr lang="en-US" dirty="0">
                <a:latin typeface="Times New Roman" panose="02020603050405020304" pitchFamily="18" charset="0"/>
                <a:cs typeface="Times New Roman" panose="02020603050405020304" pitchFamily="18" charset="0"/>
              </a:rPr>
              <a:t>s</a:t>
            </a:r>
          </a:p>
          <a:p>
            <a:r>
              <a:rPr lang="en-US" dirty="0">
                <a:latin typeface="Times New Roman" panose="02020603050405020304" pitchFamily="18" charset="0"/>
                <a:cs typeface="Times New Roman" panose="02020603050405020304" pitchFamily="18" charset="0"/>
              </a:rPr>
              <a:t>Limitations in existing systems</a:t>
            </a:r>
          </a:p>
          <a:p>
            <a:r>
              <a:rPr lang="en-US" dirty="0">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System Design &amp; Workflow</a:t>
            </a:r>
          </a:p>
          <a:p>
            <a:r>
              <a:rPr lang="en-US" dirty="0">
                <a:latin typeface="Times New Roman" panose="02020603050405020304" pitchFamily="18" charset="0"/>
                <a:cs typeface="Times New Roman" panose="02020603050405020304" pitchFamily="18" charset="0"/>
              </a:rPr>
              <a:t>Technologies &amp; Methodologies</a:t>
            </a:r>
          </a:p>
          <a:p>
            <a:r>
              <a:rPr lang="en-US" dirty="0">
                <a:latin typeface="Times New Roman" panose="02020603050405020304" pitchFamily="18" charset="0"/>
                <a:cs typeface="Times New Roman" panose="02020603050405020304" pitchFamily="18" charset="0"/>
              </a:rPr>
              <a:t>Implementation Screenshots</a:t>
            </a:r>
          </a:p>
          <a:p>
            <a:r>
              <a:rPr lang="en-US" dirty="0">
                <a:latin typeface="Times New Roman" panose="02020603050405020304" pitchFamily="18" charset="0"/>
                <a:cs typeface="Times New Roman" panose="02020603050405020304" pitchFamily="18" charset="0"/>
              </a:rPr>
              <a:t>Conclusion</a:t>
            </a:r>
          </a:p>
          <a:p>
            <a:r>
              <a:rPr lang="en-IN"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237525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E8AE-AA5B-5721-3E92-A913CD0C80B0}"/>
              </a:ext>
            </a:extLst>
          </p:cNvPr>
          <p:cNvSpPr>
            <a:spLocks noGrp="1"/>
          </p:cNvSpPr>
          <p:nvPr>
            <p:ph type="title"/>
          </p:nvPr>
        </p:nvSpPr>
        <p:spPr>
          <a:xfrm>
            <a:off x="267929" y="-135571"/>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Introduction: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541FC-3148-2651-D98D-C636D57877D7}"/>
              </a:ext>
            </a:extLst>
          </p:cNvPr>
          <p:cNvSpPr>
            <a:spLocks noGrp="1"/>
          </p:cNvSpPr>
          <p:nvPr>
            <p:ph idx="1"/>
          </p:nvPr>
        </p:nvSpPr>
        <p:spPr>
          <a:xfrm>
            <a:off x="267929" y="1189992"/>
            <a:ext cx="10515600" cy="4995968"/>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Formula 1 (F1) is a highly competitive motorsport where race outcomes are influenced by multiple factors such as driver skill, team performance, pit stop strategy, lap times, and weather conditions. Predicting race results is a complex problem because these factors interact in non-linear and often unpredictable ways.</a:t>
            </a:r>
          </a:p>
          <a:p>
            <a:pPr marL="0" indent="0" algn="just">
              <a:buNone/>
            </a:pPr>
            <a:r>
              <a:rPr lang="en-US" sz="2400" dirty="0">
                <a:latin typeface="Times New Roman" panose="02020603050405020304" pitchFamily="18" charset="0"/>
                <a:cs typeface="Times New Roman" panose="02020603050405020304" pitchFamily="18" charset="0"/>
              </a:rPr>
              <a:t>Machine Learning (ML) provides an effective way to capture these patterns from historical race data and generate predictions. In this project, we focus on building a Race Prediction System using two powerful ML algorithms:</a:t>
            </a:r>
          </a:p>
          <a:p>
            <a:pPr marL="457200" indent="-457200" algn="just">
              <a:buFont typeface="+mj-lt"/>
              <a:buAutoNum type="arabicPeriod"/>
            </a:pPr>
            <a:r>
              <a:rPr lang="en-US" sz="2400" b="1" dirty="0" err="1"/>
              <a:t>XGBoost</a:t>
            </a:r>
            <a:r>
              <a:rPr lang="en-US" sz="2400" b="1" dirty="0"/>
              <a:t> (Extreme Gradient Boosting) </a:t>
            </a:r>
            <a:r>
              <a:rPr lang="en-US" sz="2400" dirty="0"/>
              <a:t>– a high-performance gradient boosting algorithm well-suited for structured/tabular data, capable of handling missing values, feature interactions, and non-linear relationships.</a:t>
            </a:r>
          </a:p>
          <a:p>
            <a:pPr marL="457200" indent="-457200" algn="just">
              <a:buFont typeface="+mj-lt"/>
              <a:buAutoNum type="arabicPeriod"/>
            </a:pPr>
            <a:r>
              <a:rPr lang="en-US" sz="2400" b="1" dirty="0">
                <a:latin typeface="Times New Roman" panose="02020603050405020304" pitchFamily="18" charset="0"/>
                <a:cs typeface="Times New Roman" panose="02020603050405020304" pitchFamily="18" charset="0"/>
              </a:rPr>
              <a:t>Support Vector Machine (SVM) </a:t>
            </a:r>
            <a:r>
              <a:rPr lang="en-US" sz="2400" dirty="0">
                <a:latin typeface="Times New Roman" panose="02020603050405020304" pitchFamily="18" charset="0"/>
                <a:cs typeface="Times New Roman" panose="02020603050405020304" pitchFamily="18" charset="0"/>
              </a:rPr>
              <a:t>– a robust algorithm for classification and regression tasks that finds the optimal decision boundary in high-dimensional space, making it effective for handling complex datasets with fewer samples.</a:t>
            </a:r>
          </a:p>
        </p:txBody>
      </p:sp>
    </p:spTree>
    <p:extLst>
      <p:ext uri="{BB962C8B-B14F-4D97-AF65-F5344CB8AC3E}">
        <p14:creationId xmlns:p14="http://schemas.microsoft.com/office/powerpoint/2010/main" val="3553868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E8AE-AA5B-5721-3E92-A913CD0C80B0}"/>
              </a:ext>
            </a:extLst>
          </p:cNvPr>
          <p:cNvSpPr>
            <a:spLocks noGrp="1"/>
          </p:cNvSpPr>
          <p:nvPr>
            <p:ph type="title"/>
          </p:nvPr>
        </p:nvSpPr>
        <p:spPr>
          <a:xfrm>
            <a:off x="838200" y="0"/>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Problem Statement: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541FC-3148-2651-D98D-C636D57877D7}"/>
              </a:ext>
            </a:extLst>
          </p:cNvPr>
          <p:cNvSpPr>
            <a:spLocks noGrp="1"/>
          </p:cNvSpPr>
          <p:nvPr>
            <p:ph idx="1"/>
          </p:nvPr>
        </p:nvSpPr>
        <p:spPr>
          <a:xfrm>
            <a:off x="838200" y="1353268"/>
            <a:ext cx="10515600" cy="3403453"/>
          </a:xfrm>
        </p:spPr>
        <p:txBody>
          <a:bodyPr>
            <a:no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Predicting the outcome of Formula 1 races is a complex challenge due to the influence of multiple dynamic factors such as driver performance, pit stops, lap times, team strategies, and weather conditions. Existing machine learning models often fail to capture these interactions effectively, leading to inaccurate or inconsistent predictions. Therefore, there is a need to develop an advanced race prediction system that integrates key parameters and leverages powerful algorithms like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and SVM to improve prediction accuracy and adaptability under varying race conditions.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5505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6AD99-FAFD-D094-9765-E187E27E11F1}"/>
              </a:ext>
            </a:extLst>
          </p:cNvPr>
          <p:cNvSpPr>
            <a:spLocks noGrp="1"/>
          </p:cNvSpPr>
          <p:nvPr>
            <p:ph type="title"/>
          </p:nvPr>
        </p:nvSpPr>
        <p:spPr>
          <a:xfrm>
            <a:off x="838200" y="92561"/>
            <a:ext cx="10515600" cy="1325563"/>
          </a:xfrm>
        </p:spPr>
        <p:txBody>
          <a:bodyPr/>
          <a:lstStyle/>
          <a:p>
            <a:r>
              <a:rPr lang="en-IN" b="1" dirty="0">
                <a:latin typeface="Times New Roman" panose="02020603050405020304" pitchFamily="18" charset="0"/>
                <a:cs typeface="Times New Roman" panose="02020603050405020304" pitchFamily="18" charset="0"/>
              </a:rPr>
              <a:t>Sustainable Development Goal:</a:t>
            </a:r>
            <a:endParaRPr lang="en-IN" dirty="0"/>
          </a:p>
        </p:txBody>
      </p:sp>
      <p:sp>
        <p:nvSpPr>
          <p:cNvPr id="3" name="Content Placeholder 2">
            <a:extLst>
              <a:ext uri="{FF2B5EF4-FFF2-40B4-BE49-F238E27FC236}">
                <a16:creationId xmlns:a16="http://schemas.microsoft.com/office/drawing/2014/main" id="{780691DE-B151-4DB1-19C9-4CD617B6D125}"/>
              </a:ext>
            </a:extLst>
          </p:cNvPr>
          <p:cNvSpPr>
            <a:spLocks noGrp="1"/>
          </p:cNvSpPr>
          <p:nvPr>
            <p:ph idx="1"/>
          </p:nvPr>
        </p:nvSpPr>
        <p:spPr>
          <a:xfrm>
            <a:off x="149942" y="1424782"/>
            <a:ext cx="5780463" cy="4486684"/>
          </a:xfrm>
        </p:spPr>
        <p:txBody>
          <a:bodyPr>
            <a:normAutofit fontScale="92500" lnSpcReduction="10000"/>
          </a:bodyPr>
          <a:lstStyle/>
          <a:p>
            <a:pPr>
              <a:lnSpc>
                <a:spcPct val="150000"/>
              </a:lnSpc>
            </a:pPr>
            <a:r>
              <a:rPr lang="en-US" sz="2400" b="1" dirty="0">
                <a:latin typeface="Times New Roman" panose="02020603050405020304" pitchFamily="18" charset="0"/>
                <a:cs typeface="Times New Roman" panose="02020603050405020304" pitchFamily="18" charset="0"/>
              </a:rPr>
              <a:t>Sustainable Cities and Communities → </a:t>
            </a:r>
            <a:r>
              <a:rPr lang="en-US" sz="2400" dirty="0">
                <a:latin typeface="Times New Roman" panose="02020603050405020304" pitchFamily="18" charset="0"/>
                <a:cs typeface="Times New Roman" panose="02020603050405020304" pitchFamily="18" charset="0"/>
              </a:rPr>
              <a:t>Motorsport data analysis can inspire better traffic flow optimization and predictive analytics in urban transportation systems</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Climate Action → </a:t>
            </a:r>
            <a:r>
              <a:rPr lang="en-US" sz="2400" dirty="0">
                <a:latin typeface="Times New Roman" panose="02020603050405020304" pitchFamily="18" charset="0"/>
                <a:cs typeface="Times New Roman" panose="02020603050405020304" pitchFamily="18" charset="0"/>
              </a:rPr>
              <a:t>By integrating weather and efficiency-related features, your model can help simulate sustainable strategies that might eventually contribute to energy-efficient racing and eco-friendly vehicle technologies</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0DE2A61-CD37-7592-398C-AAB76BCDB7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3164" y="1569987"/>
            <a:ext cx="5769087" cy="3857420"/>
          </a:xfrm>
          <a:prstGeom prst="rect">
            <a:avLst/>
          </a:prstGeom>
        </p:spPr>
      </p:pic>
    </p:spTree>
    <p:extLst>
      <p:ext uri="{BB962C8B-B14F-4D97-AF65-F5344CB8AC3E}">
        <p14:creationId xmlns:p14="http://schemas.microsoft.com/office/powerpoint/2010/main" val="3123499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C646A9-8DA9-1706-EAFB-B96A21A7C1F5}"/>
              </a:ext>
            </a:extLst>
          </p:cNvPr>
          <p:cNvSpPr txBox="1"/>
          <p:nvPr/>
        </p:nvSpPr>
        <p:spPr>
          <a:xfrm>
            <a:off x="260365" y="88527"/>
            <a:ext cx="11364686"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Literature survey:</a:t>
            </a:r>
          </a:p>
        </p:txBody>
      </p:sp>
      <p:graphicFrame>
        <p:nvGraphicFramePr>
          <p:cNvPr id="3" name="Table 2">
            <a:extLst>
              <a:ext uri="{FF2B5EF4-FFF2-40B4-BE49-F238E27FC236}">
                <a16:creationId xmlns:a16="http://schemas.microsoft.com/office/drawing/2014/main" id="{FB870E80-8D1A-4100-816A-5A159A81A008}"/>
              </a:ext>
            </a:extLst>
          </p:cNvPr>
          <p:cNvGraphicFramePr>
            <a:graphicFrameLocks noGrp="1"/>
          </p:cNvGraphicFramePr>
          <p:nvPr>
            <p:extLst>
              <p:ext uri="{D42A27DB-BD31-4B8C-83A1-F6EECF244321}">
                <p14:modId xmlns:p14="http://schemas.microsoft.com/office/powerpoint/2010/main" val="3292778826"/>
              </p:ext>
            </p:extLst>
          </p:nvPr>
        </p:nvGraphicFramePr>
        <p:xfrm>
          <a:off x="348853" y="1010869"/>
          <a:ext cx="11276198" cy="5689778"/>
        </p:xfrm>
        <a:graphic>
          <a:graphicData uri="http://schemas.openxmlformats.org/drawingml/2006/table">
            <a:tbl>
              <a:tblPr firstRow="1" firstCol="1" bandRow="1">
                <a:tableStyleId>{7DF18680-E054-41AD-8BC1-D1AEF772440D}</a:tableStyleId>
              </a:tblPr>
              <a:tblGrid>
                <a:gridCol w="2294416">
                  <a:extLst>
                    <a:ext uri="{9D8B030D-6E8A-4147-A177-3AD203B41FA5}">
                      <a16:colId xmlns:a16="http://schemas.microsoft.com/office/drawing/2014/main" val="3412370977"/>
                    </a:ext>
                  </a:extLst>
                </a:gridCol>
                <a:gridCol w="4085335">
                  <a:extLst>
                    <a:ext uri="{9D8B030D-6E8A-4147-A177-3AD203B41FA5}">
                      <a16:colId xmlns:a16="http://schemas.microsoft.com/office/drawing/2014/main" val="4078034592"/>
                    </a:ext>
                  </a:extLst>
                </a:gridCol>
                <a:gridCol w="4896447">
                  <a:extLst>
                    <a:ext uri="{9D8B030D-6E8A-4147-A177-3AD203B41FA5}">
                      <a16:colId xmlns:a16="http://schemas.microsoft.com/office/drawing/2014/main" val="313881985"/>
                    </a:ext>
                  </a:extLst>
                </a:gridCol>
              </a:tblGrid>
              <a:tr h="737996">
                <a:tc>
                  <a:txBody>
                    <a:bodyPr/>
                    <a:lstStyle/>
                    <a:p>
                      <a:pPr algn="ctr">
                        <a:lnSpc>
                          <a:spcPct val="107000"/>
                        </a:lnSpc>
                        <a:spcAft>
                          <a:spcPts val="0"/>
                        </a:spcAft>
                      </a:pPr>
                      <a:r>
                        <a:rPr lang="en-IN" sz="1600" b="1" dirty="0">
                          <a:effectLst/>
                          <a:latin typeface="Times New Roman" panose="02020603050405020304" pitchFamily="18" charset="0"/>
                          <a:ea typeface="Calibri" panose="020F0502020204030204" pitchFamily="34" charset="0"/>
                          <a:cs typeface="Times New Roman" panose="02020603050405020304" pitchFamily="18" charset="0"/>
                        </a:rPr>
                        <a:t>Author(s) &amp; Year</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IN" sz="1600" b="1" dirty="0">
                          <a:effectLst/>
                          <a:latin typeface="Times New Roman" panose="02020603050405020304" pitchFamily="18" charset="0"/>
                          <a:ea typeface="Calibri" panose="020F0502020204030204" pitchFamily="34" charset="0"/>
                          <a:cs typeface="Times New Roman" panose="02020603050405020304" pitchFamily="18" charset="0"/>
                        </a:rPr>
                        <a:t>Method</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IN" sz="1600" b="1" dirty="0">
                          <a:effectLst/>
                          <a:latin typeface="Times New Roman" panose="02020603050405020304" pitchFamily="18" charset="0"/>
                          <a:ea typeface="Calibri" panose="020F0502020204030204" pitchFamily="34" charset="0"/>
                          <a:cs typeface="Times New Roman" panose="02020603050405020304" pitchFamily="18" charset="0"/>
                        </a:rPr>
                        <a:t>Findings / Limitations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44298548"/>
                  </a:ext>
                </a:extLst>
              </a:tr>
              <a:tr h="1104238">
                <a:tc>
                  <a:txBody>
                    <a:bodyPr/>
                    <a:lstStyle/>
                    <a:p>
                      <a:pPr algn="just">
                        <a:lnSpc>
                          <a:spcPct val="120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Smith et al. (2015)</a:t>
                      </a:r>
                    </a:p>
                  </a:txBody>
                  <a:tcPr marL="68580" marR="68580" marT="0" marB="0"/>
                </a:tc>
                <a:tc>
                  <a:txBody>
                    <a:bodyPr/>
                    <a:lstStyle/>
                    <a:p>
                      <a:pPr marL="285750" indent="-285750" algn="just">
                        <a:lnSpc>
                          <a:spcPct val="150000"/>
                        </a:lnSpc>
                        <a:spcAft>
                          <a:spcPts val="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Logistic Regression, Bayesian</a:t>
                      </a:r>
                    </a:p>
                  </a:txBody>
                  <a:tcPr marL="68580" marR="68580" marT="0" marB="0"/>
                </a:tc>
                <a:tc>
                  <a:txBody>
                    <a:bodyPr/>
                    <a:lstStyle/>
                    <a:p>
                      <a:pPr algn="just">
                        <a:lnSpc>
                          <a:spcPct val="1200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Used qualifying &amp; team strength; limited for dynamic race events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0932709"/>
                  </a:ext>
                </a:extLst>
              </a:tr>
              <a:tr h="932850">
                <a:tc>
                  <a:txBody>
                    <a:bodyPr/>
                    <a:lstStyle/>
                    <a:p>
                      <a:pPr algn="just">
                        <a:lnSpc>
                          <a:spcPct val="120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Gupta &amp; Rao (2018)</a:t>
                      </a:r>
                    </a:p>
                  </a:txBody>
                  <a:tcPr marL="68580" marR="68580" marT="0" marB="0"/>
                </a:tc>
                <a:tc>
                  <a:txBody>
                    <a:bodyPr/>
                    <a:lstStyle/>
                    <a:p>
                      <a:pPr marL="285750" indent="-285750" algn="just">
                        <a:lnSpc>
                          <a:spcPct val="150000"/>
                        </a:lnSpc>
                        <a:spcAft>
                          <a:spcPts val="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Random Forest</a:t>
                      </a:r>
                    </a:p>
                  </a:txBody>
                  <a:tcPr marL="68580" marR="68580" marT="0" marB="0"/>
                </a:tc>
                <a:tc>
                  <a:txBody>
                    <a:bodyPr/>
                    <a:lstStyle/>
                    <a:p>
                      <a:pPr algn="just">
                        <a:lnSpc>
                          <a:spcPct val="1200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Predicted finishing positions; ignored pit stops &amp; weather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32138213"/>
                  </a:ext>
                </a:extLst>
              </a:tr>
              <a:tr h="1193946">
                <a:tc>
                  <a:txBody>
                    <a:bodyPr/>
                    <a:lstStyle/>
                    <a:p>
                      <a:pPr algn="just">
                        <a:lnSpc>
                          <a:spcPct val="120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Fernández et al. (2019)</a:t>
                      </a:r>
                    </a:p>
                  </a:txBody>
                  <a:tcPr marL="68580" marR="68580" marT="0" marB="0"/>
                </a:tc>
                <a:tc>
                  <a:txBody>
                    <a:bodyPr/>
                    <a:lstStyle/>
                    <a:p>
                      <a:pPr marL="285750" indent="-285750" algn="just">
                        <a:lnSpc>
                          <a:spcPct val="120000"/>
                        </a:lnSpc>
                        <a:spcAft>
                          <a:spcPts val="0"/>
                        </a:spcAf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SVM</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200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Accurate lap classification; struggled with noisy race data</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5124275"/>
                  </a:ext>
                </a:extLst>
              </a:tr>
              <a:tr h="862302">
                <a:tc>
                  <a:txBody>
                    <a:bodyPr/>
                    <a:lstStyle/>
                    <a:p>
                      <a:pPr algn="just">
                        <a:lnSpc>
                          <a:spcPct val="120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Wang &amp; Li (2020)</a:t>
                      </a:r>
                    </a:p>
                  </a:txBody>
                  <a:tcPr marL="68580" marR="68580" marT="0" marB="0"/>
                </a:tc>
                <a:tc>
                  <a:txBody>
                    <a:bodyPr/>
                    <a:lstStyle/>
                    <a:p>
                      <a:pPr marL="285750" indent="-285750" algn="just">
                        <a:lnSpc>
                          <a:spcPct val="120000"/>
                        </a:lnSpc>
                        <a:spcAft>
                          <a:spcPts val="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LSTMs (Deep Learning)</a:t>
                      </a:r>
                    </a:p>
                  </a:txBody>
                  <a:tcPr marL="68580" marR="68580" marT="0" marB="0"/>
                </a:tc>
                <a:tc>
                  <a:txBody>
                    <a:bodyPr/>
                    <a:lstStyle/>
                    <a:p>
                      <a:pPr algn="just">
                        <a:lnSpc>
                          <a:spcPct val="1200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Improved lap predictions; high computation &amp; incomplete telemetry issues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2501551"/>
                  </a:ext>
                </a:extLst>
              </a:tr>
              <a:tr h="858446">
                <a:tc>
                  <a:txBody>
                    <a:bodyPr/>
                    <a:lstStyle/>
                    <a:p>
                      <a:pPr algn="just">
                        <a:lnSpc>
                          <a:spcPct val="120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Khan et al. (2021)</a:t>
                      </a:r>
                    </a:p>
                  </a:txBody>
                  <a:tcPr marL="68580" marR="68580" marT="0" marB="0"/>
                </a:tc>
                <a:tc>
                  <a:txBody>
                    <a:bodyPr/>
                    <a:lstStyle/>
                    <a:p>
                      <a:pPr marL="285750" indent="-285750" algn="just">
                        <a:lnSpc>
                          <a:spcPct val="120000"/>
                        </a:lnSpc>
                        <a:spcAft>
                          <a:spcPts val="0"/>
                        </a:spcAft>
                        <a:buFont typeface="Arial" panose="020B0604020202020204" pitchFamily="34" charset="0"/>
                        <a:buChar char="•"/>
                      </a:pPr>
                      <a:r>
                        <a:rPr lang="en-IN" sz="1800" dirty="0" err="1">
                          <a:latin typeface="Times New Roman" panose="02020603050405020304" pitchFamily="18" charset="0"/>
                          <a:cs typeface="Times New Roman" panose="02020603050405020304" pitchFamily="18" charset="0"/>
                        </a:rPr>
                        <a:t>XGBoost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200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Outperformed regression/SVM; lacked pit stop &amp; weather integration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8974843"/>
                  </a:ext>
                </a:extLst>
              </a:tr>
            </a:tbl>
          </a:graphicData>
        </a:graphic>
      </p:graphicFrame>
    </p:spTree>
    <p:extLst>
      <p:ext uri="{BB962C8B-B14F-4D97-AF65-F5344CB8AC3E}">
        <p14:creationId xmlns:p14="http://schemas.microsoft.com/office/powerpoint/2010/main" val="671566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86306-F080-625D-8F4D-55EF907E5214}"/>
              </a:ext>
            </a:extLst>
          </p:cNvPr>
          <p:cNvSpPr>
            <a:spLocks noGrp="1"/>
          </p:cNvSpPr>
          <p:nvPr>
            <p:ph type="title"/>
          </p:nvPr>
        </p:nvSpPr>
        <p:spPr>
          <a:xfrm>
            <a:off x="753397" y="335629"/>
            <a:ext cx="10515600" cy="1342377"/>
          </a:xfrm>
        </p:spPr>
        <p:txBody>
          <a:bodyPr/>
          <a:lstStyle/>
          <a:p>
            <a:r>
              <a:rPr lang="en-US" sz="4000" b="1" dirty="0">
                <a:latin typeface="Times New Roman" panose="02020603050405020304" pitchFamily="18" charset="0"/>
                <a:cs typeface="Times New Roman" panose="02020603050405020304" pitchFamily="18" charset="0"/>
              </a:rPr>
              <a:t>Limitations in existing systems:</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29A58BD-EFC0-91A6-3562-AB85EB06859E}"/>
              </a:ext>
            </a:extLst>
          </p:cNvPr>
          <p:cNvSpPr>
            <a:spLocks noGrp="1"/>
          </p:cNvSpPr>
          <p:nvPr>
            <p:ph idx="1"/>
          </p:nvPr>
        </p:nvSpPr>
        <p:spPr>
          <a:xfrm>
            <a:off x="668594" y="1401100"/>
            <a:ext cx="10685206" cy="4822719"/>
          </a:xfrm>
        </p:spPr>
        <p:txBody>
          <a:bodyPr>
            <a:noAutofit/>
          </a:bodyPr>
          <a:lstStyle/>
          <a:p>
            <a:pPr algn="just">
              <a:lnSpc>
                <a:spcPct val="200000"/>
              </a:lnSpc>
            </a:pPr>
            <a:r>
              <a:rPr lang="en-US" sz="2100" b="1" dirty="0">
                <a:latin typeface="Times New Roman" panose="02020603050405020304" pitchFamily="18" charset="0"/>
                <a:cs typeface="Times New Roman" panose="02020603050405020304" pitchFamily="18" charset="0"/>
              </a:rPr>
              <a:t>Ignored Key Factors </a:t>
            </a:r>
            <a:r>
              <a:rPr lang="en-US" sz="2100" dirty="0">
                <a:latin typeface="Times New Roman" panose="02020603050405020304" pitchFamily="18" charset="0"/>
                <a:cs typeface="Times New Roman" panose="02020603050405020304" pitchFamily="18" charset="0"/>
              </a:rPr>
              <a:t>– Many models overlooked pit stops, lap times, and weather conditions.</a:t>
            </a:r>
          </a:p>
          <a:p>
            <a:pPr algn="just">
              <a:lnSpc>
                <a:spcPct val="200000"/>
              </a:lnSpc>
            </a:pPr>
            <a:r>
              <a:rPr lang="en-US" sz="2100" b="1" dirty="0">
                <a:latin typeface="Times New Roman" panose="02020603050405020304" pitchFamily="18" charset="0"/>
                <a:cs typeface="Times New Roman" panose="02020603050405020304" pitchFamily="18" charset="0"/>
              </a:rPr>
              <a:t>Struggled with Real</a:t>
            </a:r>
            <a:r>
              <a:rPr lang="en-US" sz="2100" dirty="0">
                <a:latin typeface="Times New Roman" panose="02020603050405020304" pitchFamily="18" charset="0"/>
                <a:cs typeface="Times New Roman" panose="02020603050405020304" pitchFamily="18" charset="0"/>
              </a:rPr>
              <a:t>-Time Dynamics – Could not adapt well to sudden race events like crashes or safety cars.</a:t>
            </a:r>
          </a:p>
          <a:p>
            <a:pPr algn="just">
              <a:lnSpc>
                <a:spcPct val="200000"/>
              </a:lnSpc>
            </a:pPr>
            <a:r>
              <a:rPr lang="en-US" sz="2100" b="1" dirty="0">
                <a:latin typeface="Times New Roman" panose="02020603050405020304" pitchFamily="18" charset="0"/>
                <a:cs typeface="Times New Roman" panose="02020603050405020304" pitchFamily="18" charset="0"/>
              </a:rPr>
              <a:t>Data Quality Issues – </a:t>
            </a:r>
            <a:r>
              <a:rPr lang="en-US" sz="2100" dirty="0">
                <a:latin typeface="Times New Roman" panose="02020603050405020304" pitchFamily="18" charset="0"/>
                <a:cs typeface="Times New Roman" panose="02020603050405020304" pitchFamily="18" charset="0"/>
              </a:rPr>
              <a:t>Faced problems with noisy, incomplete, or inconsistent telemetry data.</a:t>
            </a:r>
          </a:p>
          <a:p>
            <a:pPr algn="just">
              <a:lnSpc>
                <a:spcPct val="200000"/>
              </a:lnSpc>
            </a:pPr>
            <a:r>
              <a:rPr lang="en-US" sz="2100" b="1" dirty="0">
                <a:latin typeface="Times New Roman" panose="02020603050405020304" pitchFamily="18" charset="0"/>
                <a:cs typeface="Times New Roman" panose="02020603050405020304" pitchFamily="18" charset="0"/>
              </a:rPr>
              <a:t>High Computational Cost </a:t>
            </a:r>
            <a:r>
              <a:rPr lang="en-US" sz="2100" dirty="0">
                <a:latin typeface="Times New Roman" panose="02020603050405020304" pitchFamily="18" charset="0"/>
                <a:cs typeface="Times New Roman" panose="02020603050405020304" pitchFamily="18" charset="0"/>
              </a:rPr>
              <a:t>– Advanced models (e.g., LSTMs) required heavy computation and lacked efficiency.</a:t>
            </a:r>
          </a:p>
        </p:txBody>
      </p:sp>
    </p:spTree>
    <p:extLst>
      <p:ext uri="{BB962C8B-B14F-4D97-AF65-F5344CB8AC3E}">
        <p14:creationId xmlns:p14="http://schemas.microsoft.com/office/powerpoint/2010/main" val="3243514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ACFFEDA-5DF7-D513-8872-A9749D58A9CC}"/>
              </a:ext>
            </a:extLst>
          </p:cNvPr>
          <p:cNvSpPr txBox="1"/>
          <p:nvPr/>
        </p:nvSpPr>
        <p:spPr>
          <a:xfrm>
            <a:off x="360382" y="15589"/>
            <a:ext cx="1131803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System Workflow:</a:t>
            </a:r>
            <a:r>
              <a:rPr lang="en-US" sz="4000" dirty="0">
                <a:latin typeface="Times New Roman" panose="02020603050405020304" pitchFamily="18" charset="0"/>
                <a:cs typeface="Times New Roman" panose="02020603050405020304" pitchFamily="18" charset="0"/>
              </a:rPr>
              <a:t> </a:t>
            </a:r>
            <a:endParaRPr lang="en-IN"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56B2013-1C3E-AACB-60E8-078CA5AA4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9761" y="6067848"/>
            <a:ext cx="1800476" cy="543001"/>
          </a:xfrm>
          <a:prstGeom prst="rect">
            <a:avLst/>
          </a:prstGeom>
        </p:spPr>
      </p:pic>
      <p:pic>
        <p:nvPicPr>
          <p:cNvPr id="4" name="Picture 3">
            <a:extLst>
              <a:ext uri="{FF2B5EF4-FFF2-40B4-BE49-F238E27FC236}">
                <a16:creationId xmlns:a16="http://schemas.microsoft.com/office/drawing/2014/main" id="{3DA0A6FB-A270-AF06-E69D-0CEDFA4FC7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043" y="1152293"/>
            <a:ext cx="11182709" cy="4915555"/>
          </a:xfrm>
          <a:prstGeom prst="rect">
            <a:avLst/>
          </a:prstGeom>
        </p:spPr>
      </p:pic>
    </p:spTree>
    <p:extLst>
      <p:ext uri="{BB962C8B-B14F-4D97-AF65-F5344CB8AC3E}">
        <p14:creationId xmlns:p14="http://schemas.microsoft.com/office/powerpoint/2010/main" val="1574889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E8AE-AA5B-5721-3E92-A913CD0C80B0}"/>
              </a:ext>
            </a:extLst>
          </p:cNvPr>
          <p:cNvSpPr>
            <a:spLocks noGrp="1"/>
          </p:cNvSpPr>
          <p:nvPr>
            <p:ph type="title"/>
          </p:nvPr>
        </p:nvSpPr>
        <p:spPr>
          <a:xfrm>
            <a:off x="0" y="-151082"/>
            <a:ext cx="10569677" cy="1095592"/>
          </a:xfrm>
        </p:spPr>
        <p:txBody>
          <a:bodyPr>
            <a:normAutofit/>
          </a:bodyPr>
          <a:lstStyle/>
          <a:p>
            <a:r>
              <a:rPr lang="en-US" sz="4000" b="1" dirty="0">
                <a:latin typeface="Times New Roman" panose="02020603050405020304" pitchFamily="18" charset="0"/>
                <a:cs typeface="Times New Roman" panose="02020603050405020304" pitchFamily="18" charset="0"/>
              </a:rPr>
              <a:t>System Design: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541FC-3148-2651-D98D-C636D57877D7}"/>
              </a:ext>
            </a:extLst>
          </p:cNvPr>
          <p:cNvSpPr>
            <a:spLocks noGrp="1"/>
          </p:cNvSpPr>
          <p:nvPr>
            <p:ph idx="1"/>
          </p:nvPr>
        </p:nvSpPr>
        <p:spPr>
          <a:xfrm>
            <a:off x="0" y="944510"/>
            <a:ext cx="11314473" cy="5647403"/>
          </a:xfrm>
        </p:spPr>
        <p:txBody>
          <a:bodyPr>
            <a:no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Feature Engineering:</a:t>
            </a:r>
          </a:p>
          <a:p>
            <a:pPr marL="457200" indent="-457200" algn="just">
              <a:lnSpc>
                <a:spcPct val="150000"/>
              </a:lnSpc>
              <a:buFont typeface="+mj-lt"/>
              <a:buAutoNum type="alphaLcPeriod"/>
            </a:pPr>
            <a:r>
              <a:rPr lang="en-US" sz="2000" dirty="0">
                <a:latin typeface="Times New Roman" panose="02020603050405020304" pitchFamily="18" charset="0"/>
                <a:cs typeface="Times New Roman" panose="02020603050405020304" pitchFamily="18" charset="0"/>
              </a:rPr>
              <a:t>Merge all data by </a:t>
            </a:r>
            <a:r>
              <a:rPr lang="en-US" sz="2000" dirty="0" err="1">
                <a:latin typeface="Times New Roman" panose="02020603050405020304" pitchFamily="18" charset="0"/>
                <a:cs typeface="Times New Roman" panose="02020603050405020304" pitchFamily="18" charset="0"/>
              </a:rPr>
              <a:t>raceId</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driverId</a:t>
            </a:r>
            <a:endParaRPr lang="en-US" sz="2000"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lphaLcPeriod"/>
            </a:pPr>
            <a:r>
              <a:rPr lang="en-US" sz="2000" dirty="0">
                <a:latin typeface="Times New Roman" panose="02020603050405020304" pitchFamily="18" charset="0"/>
                <a:cs typeface="Times New Roman" panose="02020603050405020304" pitchFamily="18" charset="0"/>
              </a:rPr>
              <a:t>Extract key features: pit stops, average lap time, weather, team stats.</a:t>
            </a:r>
          </a:p>
          <a:p>
            <a:pPr algn="just">
              <a:lnSpc>
                <a:spcPct val="150000"/>
              </a:lnSpc>
            </a:pPr>
            <a:r>
              <a:rPr lang="en-IN" sz="2000" b="1" dirty="0">
                <a:latin typeface="Times New Roman" panose="02020603050405020304" pitchFamily="18" charset="0"/>
                <a:cs typeface="Times New Roman" panose="02020603050405020304" pitchFamily="18" charset="0"/>
              </a:rPr>
              <a:t>Model Training:</a:t>
            </a:r>
          </a:p>
          <a:p>
            <a:pPr marL="342900" indent="-342900" algn="just">
              <a:lnSpc>
                <a:spcPct val="150000"/>
              </a:lnSpc>
              <a:buFont typeface="+mj-lt"/>
              <a:buAutoNum type="alphaLcPeriod"/>
            </a:pPr>
            <a:r>
              <a:rPr lang="en-US" sz="2000" b="1" dirty="0" err="1">
                <a:latin typeface="Times New Roman" panose="02020603050405020304" pitchFamily="18" charset="0"/>
                <a:cs typeface="Times New Roman" panose="02020603050405020304" pitchFamily="18" charset="0"/>
              </a:rPr>
              <a:t>XGBoost</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 high accuracy and feature importance.</a:t>
            </a:r>
          </a:p>
          <a:p>
            <a:pPr marL="342900" indent="-342900" algn="just">
              <a:lnSpc>
                <a:spcPct val="150000"/>
              </a:lnSpc>
              <a:buFont typeface="+mj-lt"/>
              <a:buAutoNum type="alphaLcPeriod"/>
            </a:pPr>
            <a:r>
              <a:rPr lang="en-US" sz="2000" b="1" dirty="0">
                <a:latin typeface="Times New Roman" panose="02020603050405020304" pitchFamily="18" charset="0"/>
                <a:cs typeface="Times New Roman" panose="02020603050405020304" pitchFamily="18" charset="0"/>
              </a:rPr>
              <a:t>SVM Bot: </a:t>
            </a:r>
            <a:r>
              <a:rPr lang="en-US" sz="2000" dirty="0">
                <a:latin typeface="Times New Roman" panose="02020603050405020304" pitchFamily="18" charset="0"/>
                <a:cs typeface="Times New Roman" panose="02020603050405020304" pitchFamily="18" charset="0"/>
              </a:rPr>
              <a:t>For comparison and handling complex patterns.</a:t>
            </a:r>
          </a:p>
          <a:p>
            <a:pPr algn="just">
              <a:lnSpc>
                <a:spcPct val="150000"/>
              </a:lnSpc>
            </a:pPr>
            <a:r>
              <a:rPr lang="en-IN" sz="2000" b="1" dirty="0">
                <a:latin typeface="Times New Roman" panose="02020603050405020304" pitchFamily="18" charset="0"/>
                <a:cs typeface="Times New Roman" panose="02020603050405020304" pitchFamily="18" charset="0"/>
              </a:rPr>
              <a:t>Prediction / Inference:</a:t>
            </a:r>
          </a:p>
          <a:p>
            <a:pPr marL="342900" indent="-342900" algn="just">
              <a:lnSpc>
                <a:spcPct val="150000"/>
              </a:lnSpc>
              <a:buFont typeface="+mj-lt"/>
              <a:buAutoNum type="alphaLcPeriod"/>
            </a:pPr>
            <a:r>
              <a:rPr lang="en-US" sz="2000" b="1" dirty="0">
                <a:latin typeface="Times New Roman" panose="02020603050405020304" pitchFamily="18" charset="0"/>
                <a:cs typeface="Times New Roman" panose="02020603050405020304" pitchFamily="18" charset="0"/>
              </a:rPr>
              <a:t>Scripts: </a:t>
            </a:r>
            <a:r>
              <a:rPr lang="en-US" sz="2000" dirty="0">
                <a:latin typeface="Times New Roman" panose="02020603050405020304" pitchFamily="18" charset="0"/>
                <a:cs typeface="Times New Roman" panose="02020603050405020304" pitchFamily="18" charset="0"/>
              </a:rPr>
              <a:t>predict.py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svm_predict.py (SVM).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8381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EF2EB-1F91-82C8-BF03-C9919D8B50C4}"/>
              </a:ext>
            </a:extLst>
          </p:cNvPr>
          <p:cNvSpPr>
            <a:spLocks noGrp="1"/>
          </p:cNvSpPr>
          <p:nvPr>
            <p:ph idx="1"/>
          </p:nvPr>
        </p:nvSpPr>
        <p:spPr>
          <a:xfrm>
            <a:off x="149943" y="468771"/>
            <a:ext cx="11481618" cy="4968467"/>
          </a:xfrm>
        </p:spPr>
        <p:txBody>
          <a:bodyPr>
            <a:normAutofit/>
          </a:bodyPr>
          <a:lstStyle/>
          <a:p>
            <a:r>
              <a:rPr lang="en-IN" sz="2000" b="1" dirty="0">
                <a:latin typeface="Times New Roman" panose="02020603050405020304" pitchFamily="18" charset="0"/>
                <a:cs typeface="Times New Roman" panose="02020603050405020304" pitchFamily="18" charset="0"/>
              </a:rPr>
              <a:t>Evaluation:</a:t>
            </a:r>
          </a:p>
          <a:p>
            <a:pPr marL="342900" indent="-342900">
              <a:buFont typeface="+mj-lt"/>
              <a:buAutoNum type="alphaLcPeriod"/>
            </a:pPr>
            <a:r>
              <a:rPr lang="en-US" sz="2000" dirty="0">
                <a:latin typeface="Times New Roman" panose="02020603050405020304" pitchFamily="18" charset="0"/>
                <a:cs typeface="Times New Roman" panose="02020603050405020304" pitchFamily="18" charset="0"/>
              </a:rPr>
              <a:t>Metrics: MAE, RMSE, accuracy, rank correlation.</a:t>
            </a:r>
          </a:p>
          <a:p>
            <a:pPr marL="342900" indent="-342900">
              <a:buFont typeface="+mj-lt"/>
              <a:buAutoNum type="alphaLcPeriod"/>
            </a:pPr>
            <a:r>
              <a:rPr lang="en-US" sz="2000" dirty="0">
                <a:latin typeface="Times New Roman" panose="02020603050405020304" pitchFamily="18" charset="0"/>
                <a:cs typeface="Times New Roman" panose="02020603050405020304" pitchFamily="18" charset="0"/>
              </a:rPr>
              <a:t>Compare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and SVM performance.</a:t>
            </a:r>
          </a:p>
          <a:p>
            <a:r>
              <a:rPr lang="en-IN" sz="2000" b="1" dirty="0">
                <a:latin typeface="Times New Roman" panose="02020603050405020304" pitchFamily="18" charset="0"/>
                <a:cs typeface="Times New Roman" panose="02020603050405020304" pitchFamily="18" charset="0"/>
              </a:rPr>
              <a:t>Optional API / Dashboard:</a:t>
            </a:r>
          </a:p>
          <a:p>
            <a:pPr marL="342900" indent="-342900">
              <a:buFont typeface="+mj-lt"/>
              <a:buAutoNum type="alphaLcPeriod"/>
            </a:pPr>
            <a:r>
              <a:rPr lang="en-US" sz="2000" dirty="0">
                <a:latin typeface="Times New Roman" panose="02020603050405020304" pitchFamily="18" charset="0"/>
                <a:cs typeface="Times New Roman" panose="02020603050405020304" pitchFamily="18" charset="0"/>
              </a:rPr>
              <a:t>Flask or </a:t>
            </a:r>
            <a:r>
              <a:rPr lang="en-US" sz="2000" dirty="0" err="1">
                <a:latin typeface="Times New Roman" panose="02020603050405020304" pitchFamily="18" charset="0"/>
                <a:cs typeface="Times New Roman" panose="02020603050405020304" pitchFamily="18" charset="0"/>
              </a:rPr>
              <a:t>FastAPI</a:t>
            </a:r>
            <a:r>
              <a:rPr lang="en-US" sz="2000" dirty="0">
                <a:latin typeface="Times New Roman" panose="02020603050405020304" pitchFamily="18" charset="0"/>
                <a:cs typeface="Times New Roman" panose="02020603050405020304" pitchFamily="18" charset="0"/>
              </a:rPr>
              <a:t> for live predictions.</a:t>
            </a:r>
          </a:p>
          <a:p>
            <a:pPr marL="342900" indent="-342900">
              <a:buFont typeface="+mj-lt"/>
              <a:buAutoNum type="alphaLcPeriod"/>
            </a:pPr>
            <a:r>
              <a:rPr lang="en-US" sz="2000" dirty="0">
                <a:latin typeface="Times New Roman" panose="02020603050405020304" pitchFamily="18" charset="0"/>
                <a:cs typeface="Times New Roman" panose="02020603050405020304" pitchFamily="18" charset="0"/>
              </a:rPr>
              <a:t>Display race results, driver ranking, and feature importance.</a:t>
            </a:r>
          </a:p>
          <a:p>
            <a:pPr marL="342900" indent="-342900">
              <a:buFont typeface="+mj-lt"/>
              <a:buAutoNum type="alphaLcPeriod"/>
            </a:pPr>
            <a:r>
              <a:rPr lang="en-IN" sz="2000" b="1" dirty="0">
                <a:latin typeface="Times New Roman" panose="02020603050405020304" pitchFamily="18" charset="0"/>
                <a:cs typeface="Times New Roman" panose="02020603050405020304" pitchFamily="18" charset="0"/>
              </a:rPr>
              <a:t>Advantages:</a:t>
            </a:r>
          </a:p>
          <a:p>
            <a:pPr marL="342900" indent="-342900">
              <a:buFont typeface="+mj-lt"/>
              <a:buAutoNum type="alphaLcParenR"/>
            </a:pPr>
            <a:r>
              <a:rPr lang="en-US" sz="2000" dirty="0">
                <a:latin typeface="Times New Roman" panose="02020603050405020304" pitchFamily="18" charset="0"/>
                <a:cs typeface="Times New Roman" panose="02020603050405020304" pitchFamily="18" charset="0"/>
              </a:rPr>
              <a:t>Integrates weather, lap, and pit data.</a:t>
            </a:r>
          </a:p>
          <a:p>
            <a:pPr marL="342900" indent="-342900">
              <a:buFont typeface="+mj-lt"/>
              <a:buAutoNum type="alphaLcParenR"/>
            </a:pPr>
            <a:r>
              <a:rPr lang="en-IN" sz="2000" dirty="0">
                <a:latin typeface="Times New Roman" panose="02020603050405020304" pitchFamily="18" charset="0"/>
                <a:cs typeface="Times New Roman" panose="02020603050405020304" pitchFamily="18" charset="0"/>
              </a:rPr>
              <a:t>Uses dual models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 SVM) for better adaptability.</a:t>
            </a:r>
          </a:p>
          <a:p>
            <a:pPr marL="0" indent="0">
              <a:buNone/>
            </a:pPr>
            <a:endParaRPr lang="en-IN" sz="1800" dirty="0">
              <a:latin typeface="Times New Roman" panose="02020603050405020304" pitchFamily="18" charset="0"/>
              <a:cs typeface="Times New Roman" panose="02020603050405020304" pitchFamily="18" charset="0"/>
            </a:endParaRPr>
          </a:p>
          <a:p>
            <a:pPr marL="342900" indent="-342900">
              <a:buFont typeface="+mj-lt"/>
              <a:buAutoNum type="alphaLcPeriod"/>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6858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E8AE-AA5B-5721-3E92-A913CD0C80B0}"/>
              </a:ext>
            </a:extLst>
          </p:cNvPr>
          <p:cNvSpPr>
            <a:spLocks noGrp="1"/>
          </p:cNvSpPr>
          <p:nvPr>
            <p:ph type="title"/>
          </p:nvPr>
        </p:nvSpPr>
        <p:spPr>
          <a:xfrm>
            <a:off x="22123" y="-184258"/>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Technologies &amp; Methodologies:</a:t>
            </a:r>
            <a:endParaRPr lang="en-IN" sz="40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FEC84C02-2480-47B4-B548-DD7A402C6F6D}"/>
              </a:ext>
            </a:extLst>
          </p:cNvPr>
          <p:cNvSpPr>
            <a:spLocks noGrp="1" noChangeArrowheads="1"/>
          </p:cNvSpPr>
          <p:nvPr>
            <p:ph idx="1"/>
          </p:nvPr>
        </p:nvSpPr>
        <p:spPr bwMode="auto">
          <a:xfrm>
            <a:off x="100781" y="1429832"/>
            <a:ext cx="12069096" cy="667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IN" sz="2400" b="1" dirty="0">
                <a:latin typeface="Times New Roman" panose="02020603050405020304" pitchFamily="18" charset="0"/>
                <a:cs typeface="Times New Roman" panose="02020603050405020304" pitchFamily="18" charset="0"/>
              </a:rPr>
              <a:t>Machine Learning Libraries:</a:t>
            </a:r>
            <a:r>
              <a:rPr kumimoji="0" lang="en-US" altLang="en-US" sz="24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effectLst/>
                <a:latin typeface="Times New Roman" panose="02020603050405020304" pitchFamily="18" charset="0"/>
                <a:cs typeface="Times New Roman" panose="02020603050405020304" pitchFamily="18" charset="0"/>
              </a:rPr>
              <a:t>XGBoost</a:t>
            </a:r>
            <a:r>
              <a:rPr kumimoji="0" lang="en-US" altLang="en-US" sz="24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a:ln>
                  <a:noFill/>
                </a:ln>
                <a:effectLst/>
                <a:latin typeface="Times New Roman" panose="02020603050405020304" pitchFamily="18" charset="0"/>
                <a:cs typeface="Times New Roman" panose="02020603050405020304" pitchFamily="18" charset="0"/>
              </a:rPr>
              <a:t>– for gradient boosting race prediction,</a:t>
            </a:r>
            <a:r>
              <a:rPr lang="en-US" sz="2400" dirty="0">
                <a:latin typeface="Times New Roman" panose="02020603050405020304" pitchFamily="18" charset="0"/>
                <a:cs typeface="Times New Roman" panose="02020603050405020304" pitchFamily="18" charset="0"/>
              </a:rPr>
              <a:t> Scikit-learn (SVM, preprocessing, metrics) – for SVM Bot and evaluation,</a:t>
            </a:r>
            <a:r>
              <a:rPr lang="en-IN" sz="2400" dirty="0">
                <a:latin typeface="Times New Roman" panose="02020603050405020304" pitchFamily="18" charset="0"/>
                <a:cs typeface="Times New Roman" panose="02020603050405020304" pitchFamily="18" charset="0"/>
              </a:rPr>
              <a:t> Pandas NumPy – for data manipulation and analysis</a:t>
            </a:r>
          </a:p>
          <a:p>
            <a:pPr algn="just" eaLnBrk="0" fontAlgn="base" hangingPunct="0">
              <a:lnSpc>
                <a:spcPct val="150000"/>
              </a:lnSpc>
              <a:spcBef>
                <a:spcPct val="0"/>
              </a:spcBef>
              <a:spcAft>
                <a:spcPct val="0"/>
              </a:spcAft>
            </a:pPr>
            <a:r>
              <a:rPr lang="en-IN" sz="2400" b="1" dirty="0">
                <a:latin typeface="Times New Roman" panose="02020603050405020304" pitchFamily="18" charset="0"/>
                <a:cs typeface="Times New Roman" panose="02020603050405020304" pitchFamily="18" charset="0"/>
              </a:rPr>
              <a:t>Model Deployment:</a:t>
            </a:r>
          </a:p>
          <a:p>
            <a:pPr marL="457200" indent="-457200" algn="just" eaLnBrk="0" fontAlgn="base" hangingPunct="0">
              <a:lnSpc>
                <a:spcPct val="150000"/>
              </a:lnSpc>
              <a:spcBef>
                <a:spcPct val="0"/>
              </a:spcBef>
              <a:spcAft>
                <a:spcPct val="0"/>
              </a:spcAft>
              <a:buFont typeface="+mj-lt"/>
              <a:buAutoNum type="alphaLcPeriod"/>
            </a:pPr>
            <a:r>
              <a:rPr lang="en-US" sz="2400" b="1" dirty="0">
                <a:latin typeface="Times New Roman" panose="02020603050405020304" pitchFamily="18" charset="0"/>
                <a:cs typeface="Times New Roman" panose="02020603050405020304" pitchFamily="18" charset="0"/>
              </a:rPr>
              <a:t>Flask</a:t>
            </a:r>
            <a:r>
              <a:rPr lang="en-US" sz="2400" dirty="0">
                <a:latin typeface="Times New Roman" panose="02020603050405020304" pitchFamily="18" charset="0"/>
                <a:cs typeface="Times New Roman" panose="02020603050405020304" pitchFamily="18" charset="0"/>
              </a:rPr>
              <a:t>  – to build an API for predictions</a:t>
            </a:r>
          </a:p>
          <a:p>
            <a:pPr marL="457200" indent="-457200" algn="just" eaLnBrk="0" fontAlgn="base" hangingPunct="0">
              <a:lnSpc>
                <a:spcPct val="150000"/>
              </a:lnSpc>
              <a:spcBef>
                <a:spcPct val="0"/>
              </a:spcBef>
              <a:spcAft>
                <a:spcPct val="0"/>
              </a:spcAft>
              <a:buFont typeface="+mj-lt"/>
              <a:buAutoNum type="alphaLcPeriod"/>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Joblib</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to save and load trained models</a:t>
            </a:r>
          </a:p>
          <a:p>
            <a:pPr algn="just" eaLnBrk="0" fontAlgn="base" hangingPunct="0">
              <a:lnSpc>
                <a:spcPct val="150000"/>
              </a:lnSpc>
              <a:spcBef>
                <a:spcPct val="0"/>
              </a:spcBef>
              <a:spcAft>
                <a:spcPct val="0"/>
              </a:spcAft>
            </a:pPr>
            <a:r>
              <a:rPr lang="en-IN" sz="2400" b="1" dirty="0">
                <a:latin typeface="Times New Roman" panose="02020603050405020304" pitchFamily="18" charset="0"/>
                <a:cs typeface="Times New Roman" panose="02020603050405020304" pitchFamily="18" charset="0"/>
              </a:rPr>
              <a:t>Development Environment:</a:t>
            </a:r>
          </a:p>
          <a:p>
            <a:pPr marL="457200" indent="-457200" algn="just" eaLnBrk="0" fontAlgn="base" hangingPunct="0">
              <a:lnSpc>
                <a:spcPct val="150000"/>
              </a:lnSpc>
              <a:spcBef>
                <a:spcPct val="0"/>
              </a:spcBef>
              <a:spcAft>
                <a:spcPct val="0"/>
              </a:spcAft>
              <a:buFont typeface="+mj-lt"/>
              <a:buAutoNum type="alphaLcPeriod"/>
            </a:pPr>
            <a:r>
              <a:rPr lang="en-US" sz="2400" dirty="0">
                <a:latin typeface="Times New Roman" panose="02020603050405020304" pitchFamily="18" charset="0"/>
                <a:cs typeface="Times New Roman" panose="02020603050405020304" pitchFamily="18" charset="0"/>
              </a:rPr>
              <a:t>VS Code – coding, debugging, and version control (Git integration)</a:t>
            </a:r>
          </a:p>
          <a:p>
            <a:pPr marL="0" indent="0" eaLnBrk="0" fontAlgn="base" hangingPunct="0">
              <a:lnSpc>
                <a:spcPct val="150000"/>
              </a:lnSpc>
              <a:spcBef>
                <a:spcPct val="0"/>
              </a:spcBef>
              <a:spcAft>
                <a:spcPct val="0"/>
              </a:spcAft>
              <a:buNone/>
            </a:pPr>
            <a:endParaRPr lang="en-IN" sz="2400" dirty="0"/>
          </a:p>
          <a:p>
            <a:pPr eaLnBrk="0" fontAlgn="base" hangingPunct="0">
              <a:lnSpc>
                <a:spcPct val="150000"/>
              </a:lnSpc>
              <a:spcBef>
                <a:spcPct val="0"/>
              </a:spcBef>
              <a:spcAft>
                <a:spcPct val="0"/>
              </a:spcAft>
            </a:pPr>
            <a:endParaRPr lang="en-IN" sz="2400" dirty="0"/>
          </a:p>
          <a:p>
            <a:pPr eaLnBrk="0" fontAlgn="base" hangingPunct="0">
              <a:lnSpc>
                <a:spcPct val="150000"/>
              </a:lnSpc>
              <a:spcBef>
                <a:spcPct val="0"/>
              </a:spcBef>
              <a:spcAft>
                <a:spcPct val="0"/>
              </a:spcAft>
            </a:pPr>
            <a:endParaRPr kumimoji="0" lang="en-US" altLang="en-US" sz="2400" i="0" u="none" strike="noStrike" cap="none" normalizeH="0" baseline="0" dirty="0">
              <a:ln>
                <a:noFill/>
              </a:ln>
              <a:effectLst/>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None/>
            </a:pP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1339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C200FD-7E01-A8A2-C82A-9A941F0CC982}"/>
              </a:ext>
            </a:extLst>
          </p:cNvPr>
          <p:cNvSpPr>
            <a:spLocks noGrp="1"/>
          </p:cNvSpPr>
          <p:nvPr>
            <p:ph idx="1"/>
          </p:nvPr>
        </p:nvSpPr>
        <p:spPr>
          <a:xfrm>
            <a:off x="179438" y="449109"/>
            <a:ext cx="10515600" cy="4351338"/>
          </a:xfrm>
        </p:spPr>
        <p:txBody>
          <a:bodyPr>
            <a:normAutofit/>
          </a:bodyPr>
          <a:lstStyle/>
          <a:p>
            <a:pPr algn="just"/>
            <a:r>
              <a:rPr lang="en-IN" sz="2400" b="1" dirty="0">
                <a:latin typeface="Times New Roman" panose="02020603050405020304" pitchFamily="18" charset="0"/>
                <a:cs typeface="Times New Roman" panose="02020603050405020304" pitchFamily="18" charset="0"/>
              </a:rPr>
              <a:t>Database / Storage:</a:t>
            </a:r>
          </a:p>
          <a:p>
            <a:pPr marL="514350" indent="-514350" algn="just">
              <a:buFont typeface="+mj-lt"/>
              <a:buAutoNum type="alphaLcPeriod"/>
            </a:pPr>
            <a:r>
              <a:rPr lang="en-US" sz="2400" b="1" dirty="0">
                <a:latin typeface="Times New Roman" panose="02020603050405020304" pitchFamily="18" charset="0"/>
                <a:cs typeface="Times New Roman" panose="02020603050405020304" pitchFamily="18" charset="0"/>
              </a:rPr>
              <a:t>CSV – </a:t>
            </a:r>
            <a:r>
              <a:rPr lang="en-US" sz="2400" dirty="0">
                <a:latin typeface="Times New Roman" panose="02020603050405020304" pitchFamily="18" charset="0"/>
                <a:cs typeface="Times New Roman" panose="02020603050405020304" pitchFamily="18" charset="0"/>
              </a:rPr>
              <a:t>for storing race, lap, and weather data</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Front-End:</a:t>
            </a:r>
          </a:p>
          <a:p>
            <a:pPr marL="457200" indent="-457200" algn="just">
              <a:buFont typeface="+mj-lt"/>
              <a:buAutoNum type="alphaLcPeriod"/>
            </a:pPr>
            <a:r>
              <a:rPr lang="en-US" sz="2400" b="1" dirty="0">
                <a:latin typeface="Times New Roman" panose="02020603050405020304" pitchFamily="18" charset="0"/>
                <a:cs typeface="Times New Roman" panose="02020603050405020304" pitchFamily="18" charset="0"/>
              </a:rPr>
              <a:t>HTML,CSS,JAVASCRIPT</a:t>
            </a:r>
            <a:r>
              <a:rPr lang="en-US" sz="2400" dirty="0">
                <a:latin typeface="Times New Roman" panose="02020603050405020304" pitchFamily="18" charset="0"/>
                <a:cs typeface="Times New Roman" panose="02020603050405020304" pitchFamily="18" charset="0"/>
              </a:rPr>
              <a:t>– for building a cross-platform mobile app to display race predictions and analytics</a:t>
            </a:r>
            <a:endParaRPr lang="en-IN" sz="2400" b="1"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4927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EDE5A-0F40-401A-BBBD-762FD5AF3D80}"/>
              </a:ext>
            </a:extLst>
          </p:cNvPr>
          <p:cNvSpPr txBox="1"/>
          <p:nvPr/>
        </p:nvSpPr>
        <p:spPr>
          <a:xfrm>
            <a:off x="475861" y="270588"/>
            <a:ext cx="1110342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Implementation:</a:t>
            </a:r>
            <a:endParaRPr lang="en-US" sz="3200" dirty="0">
              <a:latin typeface="Times New Roman" panose="02020603050405020304" pitchFamily="18" charset="0"/>
              <a:cs typeface="Times New Roman" panose="02020603050405020304" pitchFamily="18" charset="0"/>
            </a:endParaRPr>
          </a:p>
        </p:txBody>
      </p:sp>
      <p:sp>
        <p:nvSpPr>
          <p:cNvPr id="8" name="AutoShape 6">
            <a:extLst>
              <a:ext uri="{FF2B5EF4-FFF2-40B4-BE49-F238E27FC236}">
                <a16:creationId xmlns:a16="http://schemas.microsoft.com/office/drawing/2014/main" id="{D4D7249D-005E-C167-D613-A833D45497ED}"/>
              </a:ext>
            </a:extLst>
          </p:cNvPr>
          <p:cNvSpPr>
            <a:spLocks noChangeAspect="1" noChangeArrowheads="1"/>
          </p:cNvSpPr>
          <p:nvPr/>
        </p:nvSpPr>
        <p:spPr bwMode="auto">
          <a:xfrm>
            <a:off x="5943599" y="3276599"/>
            <a:ext cx="3760237" cy="37602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3AC793F0-FE69-1EA7-6175-AC83208BEA39}"/>
              </a:ext>
            </a:extLst>
          </p:cNvPr>
          <p:cNvPicPr>
            <a:picLocks noChangeAspect="1"/>
          </p:cNvPicPr>
          <p:nvPr/>
        </p:nvPicPr>
        <p:blipFill>
          <a:blip r:embed="rId2"/>
          <a:stretch>
            <a:fillRect/>
          </a:stretch>
        </p:blipFill>
        <p:spPr>
          <a:xfrm>
            <a:off x="629728" y="1103786"/>
            <a:ext cx="10932543" cy="5275422"/>
          </a:xfrm>
          <a:prstGeom prst="rect">
            <a:avLst/>
          </a:prstGeom>
        </p:spPr>
      </p:pic>
    </p:spTree>
    <p:extLst>
      <p:ext uri="{BB962C8B-B14F-4D97-AF65-F5344CB8AC3E}">
        <p14:creationId xmlns:p14="http://schemas.microsoft.com/office/powerpoint/2010/main" val="2489452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EDE5A-0F40-401A-BBBD-762FD5AF3D80}"/>
              </a:ext>
            </a:extLst>
          </p:cNvPr>
          <p:cNvSpPr txBox="1"/>
          <p:nvPr/>
        </p:nvSpPr>
        <p:spPr>
          <a:xfrm>
            <a:off x="475861" y="270588"/>
            <a:ext cx="1110342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Implementation:</a:t>
            </a:r>
            <a:endParaRPr lang="en-US" sz="3200" dirty="0">
              <a:latin typeface="Times New Roman" panose="02020603050405020304" pitchFamily="18" charset="0"/>
              <a:cs typeface="Times New Roman" panose="02020603050405020304" pitchFamily="18" charset="0"/>
            </a:endParaRPr>
          </a:p>
        </p:txBody>
      </p:sp>
      <p:sp>
        <p:nvSpPr>
          <p:cNvPr id="8" name="AutoShape 6">
            <a:extLst>
              <a:ext uri="{FF2B5EF4-FFF2-40B4-BE49-F238E27FC236}">
                <a16:creationId xmlns:a16="http://schemas.microsoft.com/office/drawing/2014/main" id="{D4D7249D-005E-C167-D613-A833D45497ED}"/>
              </a:ext>
            </a:extLst>
          </p:cNvPr>
          <p:cNvSpPr>
            <a:spLocks noChangeAspect="1" noChangeArrowheads="1"/>
          </p:cNvSpPr>
          <p:nvPr/>
        </p:nvSpPr>
        <p:spPr bwMode="auto">
          <a:xfrm>
            <a:off x="5943599" y="3276599"/>
            <a:ext cx="3760237" cy="37602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1A8838AA-B031-2310-DAFF-5203D00376E8}"/>
              </a:ext>
            </a:extLst>
          </p:cNvPr>
          <p:cNvPicPr>
            <a:picLocks noChangeAspect="1"/>
          </p:cNvPicPr>
          <p:nvPr/>
        </p:nvPicPr>
        <p:blipFill>
          <a:blip r:embed="rId2"/>
          <a:stretch>
            <a:fillRect/>
          </a:stretch>
        </p:blipFill>
        <p:spPr>
          <a:xfrm>
            <a:off x="475861" y="855363"/>
            <a:ext cx="9129623" cy="3211068"/>
          </a:xfrm>
          <a:prstGeom prst="rect">
            <a:avLst/>
          </a:prstGeom>
        </p:spPr>
      </p:pic>
      <p:pic>
        <p:nvPicPr>
          <p:cNvPr id="6" name="Picture 5">
            <a:extLst>
              <a:ext uri="{FF2B5EF4-FFF2-40B4-BE49-F238E27FC236}">
                <a16:creationId xmlns:a16="http://schemas.microsoft.com/office/drawing/2014/main" id="{FFF64380-8594-F908-BAF2-C1D692A5369A}"/>
              </a:ext>
            </a:extLst>
          </p:cNvPr>
          <p:cNvPicPr>
            <a:picLocks noChangeAspect="1"/>
          </p:cNvPicPr>
          <p:nvPr/>
        </p:nvPicPr>
        <p:blipFill>
          <a:blip r:embed="rId3"/>
          <a:stretch>
            <a:fillRect/>
          </a:stretch>
        </p:blipFill>
        <p:spPr>
          <a:xfrm>
            <a:off x="475861" y="4135442"/>
            <a:ext cx="3386834" cy="2587028"/>
          </a:xfrm>
          <a:prstGeom prst="rect">
            <a:avLst/>
          </a:prstGeom>
        </p:spPr>
      </p:pic>
      <p:pic>
        <p:nvPicPr>
          <p:cNvPr id="9" name="Picture 8">
            <a:extLst>
              <a:ext uri="{FF2B5EF4-FFF2-40B4-BE49-F238E27FC236}">
                <a16:creationId xmlns:a16="http://schemas.microsoft.com/office/drawing/2014/main" id="{D84FC3A4-BDC4-46BC-56B0-0CAA609BD254}"/>
              </a:ext>
            </a:extLst>
          </p:cNvPr>
          <p:cNvPicPr>
            <a:picLocks noChangeAspect="1"/>
          </p:cNvPicPr>
          <p:nvPr/>
        </p:nvPicPr>
        <p:blipFill>
          <a:blip r:embed="rId4"/>
          <a:stretch>
            <a:fillRect/>
          </a:stretch>
        </p:blipFill>
        <p:spPr>
          <a:xfrm>
            <a:off x="5633413" y="4135442"/>
            <a:ext cx="3445858" cy="2587028"/>
          </a:xfrm>
          <a:prstGeom prst="rect">
            <a:avLst/>
          </a:prstGeom>
        </p:spPr>
      </p:pic>
    </p:spTree>
    <p:extLst>
      <p:ext uri="{BB962C8B-B14F-4D97-AF65-F5344CB8AC3E}">
        <p14:creationId xmlns:p14="http://schemas.microsoft.com/office/powerpoint/2010/main" val="1609129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EDE5A-0F40-401A-BBBD-762FD5AF3D80}"/>
              </a:ext>
            </a:extLst>
          </p:cNvPr>
          <p:cNvSpPr txBox="1"/>
          <p:nvPr/>
        </p:nvSpPr>
        <p:spPr>
          <a:xfrm>
            <a:off x="475861" y="270588"/>
            <a:ext cx="1110342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Implementation:</a:t>
            </a:r>
            <a:endParaRPr lang="en-US" sz="3200" dirty="0">
              <a:latin typeface="Times New Roman" panose="02020603050405020304" pitchFamily="18" charset="0"/>
              <a:cs typeface="Times New Roman" panose="02020603050405020304" pitchFamily="18" charset="0"/>
            </a:endParaRPr>
          </a:p>
        </p:txBody>
      </p:sp>
      <p:sp>
        <p:nvSpPr>
          <p:cNvPr id="8" name="AutoShape 6">
            <a:extLst>
              <a:ext uri="{FF2B5EF4-FFF2-40B4-BE49-F238E27FC236}">
                <a16:creationId xmlns:a16="http://schemas.microsoft.com/office/drawing/2014/main" id="{D4D7249D-005E-C167-D613-A833D45497ED}"/>
              </a:ext>
            </a:extLst>
          </p:cNvPr>
          <p:cNvSpPr>
            <a:spLocks noChangeAspect="1" noChangeArrowheads="1"/>
          </p:cNvSpPr>
          <p:nvPr/>
        </p:nvSpPr>
        <p:spPr bwMode="auto">
          <a:xfrm>
            <a:off x="5943599" y="3276599"/>
            <a:ext cx="3760237" cy="37602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A4078C63-E012-0A8B-952B-9D66BD3D1F33}"/>
              </a:ext>
            </a:extLst>
          </p:cNvPr>
          <p:cNvPicPr>
            <a:picLocks noChangeAspect="1"/>
          </p:cNvPicPr>
          <p:nvPr/>
        </p:nvPicPr>
        <p:blipFill>
          <a:blip r:embed="rId2"/>
          <a:stretch>
            <a:fillRect/>
          </a:stretch>
        </p:blipFill>
        <p:spPr>
          <a:xfrm>
            <a:off x="390457" y="974784"/>
            <a:ext cx="2426852" cy="5710687"/>
          </a:xfrm>
          <a:prstGeom prst="rect">
            <a:avLst/>
          </a:prstGeom>
        </p:spPr>
      </p:pic>
      <p:pic>
        <p:nvPicPr>
          <p:cNvPr id="6" name="Picture 5">
            <a:extLst>
              <a:ext uri="{FF2B5EF4-FFF2-40B4-BE49-F238E27FC236}">
                <a16:creationId xmlns:a16="http://schemas.microsoft.com/office/drawing/2014/main" id="{E4CAB218-4AB5-1D57-A7E2-F9099A197F78}"/>
              </a:ext>
            </a:extLst>
          </p:cNvPr>
          <p:cNvPicPr>
            <a:picLocks noChangeAspect="1"/>
          </p:cNvPicPr>
          <p:nvPr/>
        </p:nvPicPr>
        <p:blipFill>
          <a:blip r:embed="rId3"/>
          <a:stretch>
            <a:fillRect/>
          </a:stretch>
        </p:blipFill>
        <p:spPr>
          <a:xfrm>
            <a:off x="2944477" y="2112085"/>
            <a:ext cx="9066368" cy="3436083"/>
          </a:xfrm>
          <a:prstGeom prst="rect">
            <a:avLst/>
          </a:prstGeom>
        </p:spPr>
      </p:pic>
    </p:spTree>
    <p:extLst>
      <p:ext uri="{BB962C8B-B14F-4D97-AF65-F5344CB8AC3E}">
        <p14:creationId xmlns:p14="http://schemas.microsoft.com/office/powerpoint/2010/main" val="3272036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E0998C-BF4A-0F7B-1E59-AA129D0F2785}"/>
              </a:ext>
            </a:extLst>
          </p:cNvPr>
          <p:cNvSpPr txBox="1"/>
          <p:nvPr/>
        </p:nvSpPr>
        <p:spPr>
          <a:xfrm>
            <a:off x="1968759" y="363894"/>
            <a:ext cx="7417837" cy="369332"/>
          </a:xfrm>
          <a:prstGeom prst="rect">
            <a:avLst/>
          </a:prstGeom>
          <a:noFill/>
        </p:spPr>
        <p:txBody>
          <a:bodyPr wrap="square" rtlCol="0">
            <a:spAutoFit/>
          </a:bodyPr>
          <a:lstStyle/>
          <a:p>
            <a:r>
              <a:rPr lang="en-US" dirty="0"/>
              <a:t>	</a:t>
            </a:r>
            <a:endParaRPr lang="en-IN" dirty="0"/>
          </a:p>
        </p:txBody>
      </p:sp>
      <p:sp>
        <p:nvSpPr>
          <p:cNvPr id="3" name="TextBox 2">
            <a:extLst>
              <a:ext uri="{FF2B5EF4-FFF2-40B4-BE49-F238E27FC236}">
                <a16:creationId xmlns:a16="http://schemas.microsoft.com/office/drawing/2014/main" id="{5BFA134F-2B6F-D891-F6F8-DD42E643E503}"/>
              </a:ext>
            </a:extLst>
          </p:cNvPr>
          <p:cNvSpPr txBox="1"/>
          <p:nvPr/>
        </p:nvSpPr>
        <p:spPr>
          <a:xfrm>
            <a:off x="242596" y="514349"/>
            <a:ext cx="710059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CONCLUSION:</a:t>
            </a:r>
            <a:endParaRPr lang="en-IN"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321E91-1FA1-FF46-EEFF-D455B5B49077}"/>
              </a:ext>
            </a:extLst>
          </p:cNvPr>
          <p:cNvSpPr txBox="1"/>
          <p:nvPr/>
        </p:nvSpPr>
        <p:spPr>
          <a:xfrm>
            <a:off x="335902" y="1511559"/>
            <a:ext cx="11010122" cy="4832092"/>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The F1 Race Prediction project successfully demonstrates the use of Machine Learning algorithms, specifically SVM (Support Vector Machine) and </a:t>
            </a:r>
            <a:r>
              <a:rPr lang="en-US" sz="2800" dirty="0" err="1">
                <a:latin typeface="Times New Roman" panose="02020603050405020304" pitchFamily="18" charset="0"/>
                <a:cs typeface="Times New Roman" panose="02020603050405020304" pitchFamily="18" charset="0"/>
              </a:rPr>
              <a:t>XGBoost</a:t>
            </a:r>
            <a:r>
              <a:rPr lang="en-US" sz="2800" dirty="0">
                <a:latin typeface="Times New Roman" panose="02020603050405020304" pitchFamily="18" charset="0"/>
                <a:cs typeface="Times New Roman" panose="02020603050405020304" pitchFamily="18" charset="0"/>
              </a:rPr>
              <a:t>, to forecast race outcomes based on historical race data, driver performance, and track conditions. The models were able to capture complex patterns and make accurate predictions, highlighting the potential of ML in motorsports analytics.</a:t>
            </a:r>
          </a:p>
          <a:p>
            <a:pPr algn="just"/>
            <a:r>
              <a:rPr lang="en-US" sz="2800" dirty="0">
                <a:latin typeface="Times New Roman" panose="02020603050405020304" pitchFamily="18" charset="0"/>
                <a:cs typeface="Times New Roman" panose="02020603050405020304" pitchFamily="18" charset="0"/>
              </a:rPr>
              <a:t>This approach not only assists teams and strategists in decision-making but also opens avenues for real-time predictive insights, enhancing race strategies and performance optimization. Future improvements can include incorporating real-time telemetry data, weather conditions, and advanced feature engineering to further increase prediction accuracy.</a:t>
            </a:r>
          </a:p>
        </p:txBody>
      </p:sp>
    </p:spTree>
    <p:extLst>
      <p:ext uri="{BB962C8B-B14F-4D97-AF65-F5344CB8AC3E}">
        <p14:creationId xmlns:p14="http://schemas.microsoft.com/office/powerpoint/2010/main" val="1439686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DF9D59-52DA-1AF0-8237-73CA454212D5}"/>
              </a:ext>
            </a:extLst>
          </p:cNvPr>
          <p:cNvSpPr txBox="1"/>
          <p:nvPr/>
        </p:nvSpPr>
        <p:spPr>
          <a:xfrm>
            <a:off x="410547" y="466531"/>
            <a:ext cx="2976465"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References:-</a:t>
            </a:r>
            <a:endParaRPr lang="en-IN" sz="4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E057404-6C9B-5447-B21F-3519C6B6E164}"/>
              </a:ext>
            </a:extLst>
          </p:cNvPr>
          <p:cNvSpPr txBox="1"/>
          <p:nvPr/>
        </p:nvSpPr>
        <p:spPr>
          <a:xfrm>
            <a:off x="345233" y="1418253"/>
            <a:ext cx="11370906" cy="4801314"/>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[1] T. Kumar and A. Singh, “Race outcome prediction using machine learning models in Formula 1,” </a:t>
            </a:r>
            <a:r>
              <a:rPr lang="en-IN" sz="2400" i="1" dirty="0">
                <a:latin typeface="Times New Roman" panose="02020603050405020304" pitchFamily="18" charset="0"/>
                <a:cs typeface="Times New Roman" panose="02020603050405020304" pitchFamily="18" charset="0"/>
              </a:rPr>
              <a:t>International Journal of Data Science and Analytics</a:t>
            </a:r>
            <a:r>
              <a:rPr lang="en-IN" sz="2400" dirty="0">
                <a:latin typeface="Times New Roman" panose="02020603050405020304" pitchFamily="18" charset="0"/>
                <a:cs typeface="Times New Roman" panose="02020603050405020304" pitchFamily="18" charset="0"/>
              </a:rPr>
              <a:t>, vol. 8, no. 3, pp. 210–218, 2021.</a:t>
            </a:r>
          </a:p>
          <a:p>
            <a:pPr algn="just"/>
            <a:r>
              <a:rPr lang="en-IN" sz="2400" dirty="0">
                <a:latin typeface="Times New Roman" panose="02020603050405020304" pitchFamily="18" charset="0"/>
                <a:cs typeface="Times New Roman" panose="02020603050405020304" pitchFamily="18" charset="0"/>
              </a:rPr>
              <a:t>[2] P. Sharma and R. Patel, “Driver performance classification using Support Vector Machines for Formula racing,” </a:t>
            </a:r>
            <a:r>
              <a:rPr lang="en-IN" sz="2400" i="1" dirty="0">
                <a:latin typeface="Times New Roman" panose="02020603050405020304" pitchFamily="18" charset="0"/>
                <a:cs typeface="Times New Roman" panose="02020603050405020304" pitchFamily="18" charset="0"/>
              </a:rPr>
              <a:t>IEEE Access</a:t>
            </a:r>
            <a:r>
              <a:rPr lang="en-IN" sz="2400" dirty="0">
                <a:latin typeface="Times New Roman" panose="02020603050405020304" pitchFamily="18" charset="0"/>
                <a:cs typeface="Times New Roman" panose="02020603050405020304" pitchFamily="18" charset="0"/>
              </a:rPr>
              <a:t>, vol. 10, pp. 45120–45130, 2022.</a:t>
            </a:r>
          </a:p>
          <a:p>
            <a:pPr algn="just"/>
            <a:r>
              <a:rPr lang="en-IN" sz="2400" dirty="0">
                <a:latin typeface="Times New Roman" panose="02020603050405020304" pitchFamily="18" charset="0"/>
                <a:cs typeface="Times New Roman" panose="02020603050405020304" pitchFamily="18" charset="0"/>
              </a:rPr>
              <a:t>[3] H. Lee, J. Park, and K. Choi, “Predictive analysis of pit stop strategies in Formula 1 using </a:t>
            </a:r>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Journal of Sports Analytics</a:t>
            </a:r>
            <a:r>
              <a:rPr lang="en-IN" sz="2400" dirty="0">
                <a:latin typeface="Times New Roman" panose="02020603050405020304" pitchFamily="18" charset="0"/>
                <a:cs typeface="Times New Roman" panose="02020603050405020304" pitchFamily="18" charset="0"/>
              </a:rPr>
              <a:t>, vol. 9, no. 1, pp. 55–68, 2023.</a:t>
            </a:r>
          </a:p>
          <a:p>
            <a:pPr algn="just"/>
            <a:r>
              <a:rPr lang="en-IN" sz="2400" dirty="0">
                <a:latin typeface="Times New Roman" panose="02020603050405020304" pitchFamily="18" charset="0"/>
                <a:cs typeface="Times New Roman" panose="02020603050405020304" pitchFamily="18" charset="0"/>
              </a:rPr>
              <a:t>[4] Y. Chen and L. Zhang, “Deep learning approaches for motorsport telemetry data prediction,” </a:t>
            </a:r>
            <a:r>
              <a:rPr lang="en-IN" sz="2400" i="1" dirty="0">
                <a:latin typeface="Times New Roman" panose="02020603050405020304" pitchFamily="18" charset="0"/>
                <a:cs typeface="Times New Roman" panose="02020603050405020304" pitchFamily="18" charset="0"/>
              </a:rPr>
              <a:t>Procedia Computer Science</a:t>
            </a:r>
            <a:r>
              <a:rPr lang="en-IN" sz="2400" dirty="0">
                <a:latin typeface="Times New Roman" panose="02020603050405020304" pitchFamily="18" charset="0"/>
                <a:cs typeface="Times New Roman" panose="02020603050405020304" pitchFamily="18" charset="0"/>
              </a:rPr>
              <a:t>, vol. 219, pp. 980–989, 2024.</a:t>
            </a:r>
          </a:p>
          <a:p>
            <a:pPr algn="just"/>
            <a:r>
              <a:rPr lang="en-IN" sz="2400" dirty="0">
                <a:latin typeface="Times New Roman" panose="02020603050405020304" pitchFamily="18" charset="0"/>
                <a:cs typeface="Times New Roman" panose="02020603050405020304" pitchFamily="18" charset="0"/>
              </a:rPr>
              <a:t>[5] F. Zhou, M. Wilson, and A. Gupta, “Comparative analysis of machine learning algorithms for race performance forecasting,” </a:t>
            </a:r>
            <a:r>
              <a:rPr lang="en-IN" sz="2400" i="1" dirty="0">
                <a:latin typeface="Times New Roman" panose="02020603050405020304" pitchFamily="18" charset="0"/>
                <a:cs typeface="Times New Roman" panose="02020603050405020304" pitchFamily="18" charset="0"/>
              </a:rPr>
              <a:t>Expert Systems with Applications</a:t>
            </a:r>
            <a:r>
              <a:rPr lang="en-IN" sz="2400" dirty="0">
                <a:latin typeface="Times New Roman" panose="02020603050405020304" pitchFamily="18" charset="0"/>
                <a:cs typeface="Times New Roman" panose="02020603050405020304" pitchFamily="18" charset="0"/>
              </a:rPr>
              <a:t>, vol. 214, 2023.</a:t>
            </a:r>
          </a:p>
          <a:p>
            <a:endParaRPr lang="en-IN" dirty="0"/>
          </a:p>
        </p:txBody>
      </p:sp>
    </p:spTree>
    <p:extLst>
      <p:ext uri="{BB962C8B-B14F-4D97-AF65-F5344CB8AC3E}">
        <p14:creationId xmlns:p14="http://schemas.microsoft.com/office/powerpoint/2010/main" val="2647066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B1E2B-A43B-436A-A3B7-D04A5DEB5A74}"/>
              </a:ext>
            </a:extLst>
          </p:cNvPr>
          <p:cNvSpPr>
            <a:spLocks noGrp="1"/>
          </p:cNvSpPr>
          <p:nvPr>
            <p:ph type="title"/>
          </p:nvPr>
        </p:nvSpPr>
        <p:spPr>
          <a:xfrm>
            <a:off x="838200" y="2766218"/>
            <a:ext cx="10515600" cy="1325563"/>
          </a:xfrm>
        </p:spPr>
        <p:txBody>
          <a:bodyPr/>
          <a:lstStyle/>
          <a:p>
            <a:pPr algn="ctr"/>
            <a:r>
              <a:rPr lang="en-IN"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218113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966</TotalTime>
  <Words>1138</Words>
  <Application>Microsoft Office PowerPoint</Application>
  <PresentationFormat>Widescreen</PresentationFormat>
  <Paragraphs>102</Paragraphs>
  <Slides>18</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Calibri</vt:lpstr>
      <vt:lpstr>Calibri Light</vt:lpstr>
      <vt:lpstr>Times New Roman</vt:lpstr>
      <vt:lpstr>Arial</vt:lpstr>
      <vt:lpstr>Office Theme</vt:lpstr>
      <vt:lpstr>1_Office Theme</vt:lpstr>
      <vt:lpstr>PowerPoint Presentation</vt:lpstr>
      <vt:lpstr>Presentation Outline:</vt:lpstr>
      <vt:lpstr>Introduction:</vt:lpstr>
      <vt:lpstr>Problem Statement:</vt:lpstr>
      <vt:lpstr>Sustainable Development Goal:</vt:lpstr>
      <vt:lpstr>PowerPoint Presentation</vt:lpstr>
      <vt:lpstr>Limitations in existing systems: </vt:lpstr>
      <vt:lpstr>PowerPoint Presentation</vt:lpstr>
      <vt:lpstr>System Design:</vt:lpstr>
      <vt:lpstr>PowerPoint Presentation</vt:lpstr>
      <vt:lpstr>Technologies &amp; Methodologies:</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Sami Ansari</dc:creator>
  <cp:lastModifiedBy>Prathamesh More</cp:lastModifiedBy>
  <cp:revision>46</cp:revision>
  <dcterms:created xsi:type="dcterms:W3CDTF">2025-07-09T16:36:38Z</dcterms:created>
  <dcterms:modified xsi:type="dcterms:W3CDTF">2025-10-31T03:29:43Z</dcterms:modified>
</cp:coreProperties>
</file>